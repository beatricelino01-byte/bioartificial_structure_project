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1" r:id="rId2"/>
    <p:sldId id="1793" r:id="rId3"/>
    <p:sldId id="1785" r:id="rId4"/>
    <p:sldId id="1810" r:id="rId5"/>
    <p:sldId id="1787" r:id="rId6"/>
    <p:sldId id="1799" r:id="rId7"/>
    <p:sldId id="1800" r:id="rId8"/>
    <p:sldId id="1788" r:id="rId9"/>
    <p:sldId id="1802" r:id="rId10"/>
    <p:sldId id="1807" r:id="rId11"/>
    <p:sldId id="1808" r:id="rId12"/>
    <p:sldId id="1813" r:id="rId13"/>
    <p:sldId id="1812" r:id="rId14"/>
    <p:sldId id="1796" r:id="rId15"/>
    <p:sldId id="1803" r:id="rId16"/>
    <p:sldId id="1661" r:id="rId1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4D931E-2B16-6696-7201-648026C25A2E}" name="Benedetta Di Sarno" initials="BD" userId="S::10804187@polimi.it::f9feba16-9971-4875-92f0-7aa57a0959d4" providerId="AD"/>
  <p188:author id="{BDCF726A-58F8-A41E-470B-43E5496C36A7}" name="Francesca Biondi" initials="FB" userId="S::10809389@polimi.it::5b97613a-8a63-4231-a322-fc0f1bde143f" providerId="AD"/>
  <p188:author id="{B21E5188-897B-93BA-05DD-0552DC98D6C6}" name="Leo Valentino Crippa" initials="" userId="S::10767790@polimi.it::5c3ec3fe-4161-4e99-99e9-2b0817831cf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56278"/>
    <a:srgbClr val="6687C9"/>
    <a:srgbClr val="C1CFFB"/>
    <a:srgbClr val="9882AC"/>
    <a:srgbClr val="7980B5"/>
    <a:srgbClr val="5287C9"/>
    <a:srgbClr val="DDC9E3"/>
    <a:srgbClr val="CBC0EB"/>
    <a:srgbClr val="C8B5E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97A273-AD36-A329-3AA2-37ED94FFC4DD}" v="24" dt="2024-12-16T16:51:16.814"/>
    <p1510:client id="{3E5FD2ED-7183-FB49-9431-81AC275A4707}" v="10" dt="2024-12-16T16:09:49.545"/>
    <p1510:client id="{7178525B-BD06-97EF-36C9-E5885C207992}" v="90" dt="2024-12-15T19:31:20.331"/>
    <p1510:client id="{B068A060-430D-3386-29F0-B8EA4C0C1BE6}" v="458" dt="2024-12-16T11:12:15.056"/>
    <p1510:client id="{F4EB9B21-0CFD-4C22-E06F-510D083CAC9A}" v="1228" dt="2024-12-15T20:50:21.2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7"/>
  </p:normalViewPr>
  <p:slideViewPr>
    <p:cSldViewPr snapToGrid="0">
      <p:cViewPr varScale="1">
        <p:scale>
          <a:sx n="103" d="100"/>
          <a:sy n="103"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A2D53-6E94-BC45-8494-672A0EA8F5E2}" type="datetimeFigureOut">
              <a:rPr lang="it-IT" smtClean="0"/>
              <a:t>29/08/26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B04006-8208-1147-A892-DC10131BAE97}" type="slidenum">
              <a:rPr lang="it-IT" smtClean="0"/>
              <a:t>‹N›</a:t>
            </a:fld>
            <a:endParaRPr lang="it-IT"/>
          </a:p>
        </p:txBody>
      </p:sp>
    </p:spTree>
    <p:extLst>
      <p:ext uri="{BB962C8B-B14F-4D97-AF65-F5344CB8AC3E}">
        <p14:creationId xmlns:p14="http://schemas.microsoft.com/office/powerpoint/2010/main" val="258762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D61589-E29C-416D-A6DA-D6A2730E0E70}" type="slidenum">
              <a:rPr lang="en-US" smtClean="0"/>
              <a:t>1</a:t>
            </a:fld>
            <a:endParaRPr lang="en-US"/>
          </a:p>
        </p:txBody>
      </p:sp>
    </p:spTree>
    <p:extLst>
      <p:ext uri="{BB962C8B-B14F-4D97-AF65-F5344CB8AC3E}">
        <p14:creationId xmlns:p14="http://schemas.microsoft.com/office/powerpoint/2010/main" val="3213853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a:t>Future developments: improve the printing characteristics of the material to obtain smaller and more precise channels (?)</a:t>
            </a:r>
          </a:p>
          <a:p>
            <a:r>
              <a:rPr lang="en-US"/>
              <a:t>In vivo tests and characterization</a:t>
            </a:r>
          </a:p>
          <a:p>
            <a:r>
              <a:rPr lang="en-US"/>
              <a:t>Test different sacrificial materials for printing </a:t>
            </a:r>
          </a:p>
        </p:txBody>
      </p:sp>
      <p:sp>
        <p:nvSpPr>
          <p:cNvPr id="4" name="Segnaposto numero diapositiva 3"/>
          <p:cNvSpPr>
            <a:spLocks noGrp="1"/>
          </p:cNvSpPr>
          <p:nvPr>
            <p:ph type="sldNum" sz="quarter" idx="5"/>
          </p:nvPr>
        </p:nvSpPr>
        <p:spPr/>
        <p:txBody>
          <a:bodyPr/>
          <a:lstStyle/>
          <a:p>
            <a:fld id="{DFB04006-8208-1147-A892-DC10131BAE97}" type="slidenum">
              <a:rPr lang="en-US" smtClean="0"/>
              <a:t>13</a:t>
            </a:fld>
            <a:endParaRPr lang="en-US"/>
          </a:p>
        </p:txBody>
      </p:sp>
    </p:spTree>
    <p:extLst>
      <p:ext uri="{BB962C8B-B14F-4D97-AF65-F5344CB8AC3E}">
        <p14:creationId xmlns:p14="http://schemas.microsoft.com/office/powerpoint/2010/main" val="2673780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D61589-E29C-416D-A6DA-D6A2730E0E70}" type="slidenum">
              <a:rPr lang="en-US" smtClean="0"/>
              <a:t>16</a:t>
            </a:fld>
            <a:endParaRPr lang="en-US"/>
          </a:p>
        </p:txBody>
      </p:sp>
    </p:spTree>
    <p:extLst>
      <p:ext uri="{BB962C8B-B14F-4D97-AF65-F5344CB8AC3E}">
        <p14:creationId xmlns:p14="http://schemas.microsoft.com/office/powerpoint/2010/main" val="231247924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Diapositiva titolo">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B922C136-3929-E4D6-9B13-972D37418319}"/>
              </a:ext>
            </a:extLst>
          </p:cNvPr>
          <p:cNvPicPr>
            <a:picLocks noChangeAspect="1"/>
          </p:cNvPicPr>
          <p:nvPr userDrawn="1"/>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colorTemperature colorTemp="10195"/>
                    </a14:imgEffect>
                    <a14:imgEffect>
                      <a14:saturation sat="73000"/>
                    </a14:imgEffect>
                    <a14:imgEffect>
                      <a14:brightnessContrast bright="66000" contrast="-15000"/>
                    </a14:imgEffect>
                  </a14:imgLayer>
                </a14:imgProps>
              </a:ext>
              <a:ext uri="{28A0092B-C50C-407E-A947-70E740481C1C}">
                <a14:useLocalDpi xmlns:a14="http://schemas.microsoft.com/office/drawing/2010/main" val="0"/>
              </a:ext>
            </a:extLst>
          </a:blip>
          <a:stretch>
            <a:fillRect/>
          </a:stretch>
        </p:blipFill>
        <p:spPr>
          <a:xfrm>
            <a:off x="-12087" y="1"/>
            <a:ext cx="12216173" cy="6868555"/>
          </a:xfrm>
          <a:prstGeom prst="rect">
            <a:avLst/>
          </a:prstGeom>
        </p:spPr>
      </p:pic>
    </p:spTree>
    <p:extLst>
      <p:ext uri="{BB962C8B-B14F-4D97-AF65-F5344CB8AC3E}">
        <p14:creationId xmlns:p14="http://schemas.microsoft.com/office/powerpoint/2010/main" val="4062778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polimi 3">
    <p:spTree>
      <p:nvGrpSpPr>
        <p:cNvPr id="1" name=""/>
        <p:cNvGrpSpPr/>
        <p:nvPr/>
      </p:nvGrpSpPr>
      <p:grpSpPr>
        <a:xfrm>
          <a:off x="0" y="0"/>
          <a:ext cx="0" cy="0"/>
          <a:chOff x="0" y="0"/>
          <a:chExt cx="0" cy="0"/>
        </a:xfrm>
      </p:grpSpPr>
      <p:pic>
        <p:nvPicPr>
          <p:cNvPr id="10" name="Immagin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343"/>
            <a:ext cx="12209232" cy="6857657"/>
          </a:xfrm>
          <a:prstGeom prst="rect">
            <a:avLst/>
          </a:prstGeom>
        </p:spPr>
      </p:pic>
      <p:sp>
        <p:nvSpPr>
          <p:cNvPr id="2" name="object 6"/>
          <p:cNvSpPr/>
          <p:nvPr userDrawn="1"/>
        </p:nvSpPr>
        <p:spPr>
          <a:xfrm>
            <a:off x="6680006" y="6381106"/>
            <a:ext cx="5529939" cy="476895"/>
          </a:xfrm>
          <a:custGeom>
            <a:avLst/>
            <a:gdLst/>
            <a:ahLst/>
            <a:cxnLst/>
            <a:rect l="l" t="t" r="r" b="b"/>
            <a:pathLst>
              <a:path w="9273540" h="754379">
                <a:moveTo>
                  <a:pt x="0" y="753903"/>
                </a:moveTo>
                <a:lnTo>
                  <a:pt x="9273015" y="753903"/>
                </a:lnTo>
                <a:lnTo>
                  <a:pt x="9273015" y="0"/>
                </a:lnTo>
                <a:lnTo>
                  <a:pt x="0" y="0"/>
                </a:lnTo>
                <a:lnTo>
                  <a:pt x="0" y="753903"/>
                </a:lnTo>
                <a:close/>
              </a:path>
            </a:pathLst>
          </a:custGeom>
          <a:solidFill>
            <a:srgbClr val="475968">
              <a:alpha val="89999"/>
            </a:srgbClr>
          </a:solidFill>
        </p:spPr>
        <p:txBody>
          <a:bodyPr wrap="square" lIns="0" tIns="0" rIns="0" bIns="0" rtlCol="0"/>
          <a:lstStyle/>
          <a:p>
            <a:endParaRPr sz="1800">
              <a:latin typeface="PT Sans" charset="0"/>
            </a:endParaRPr>
          </a:p>
        </p:txBody>
      </p:sp>
      <p:pic>
        <p:nvPicPr>
          <p:cNvPr id="3" name="Immagin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92138" y="6555552"/>
            <a:ext cx="2104963" cy="160501"/>
          </a:xfrm>
          <a:prstGeom prst="rect">
            <a:avLst/>
          </a:prstGeom>
        </p:spPr>
      </p:pic>
      <p:sp>
        <p:nvSpPr>
          <p:cNvPr id="4" name="CasellaDiTesto 3"/>
          <p:cNvSpPr txBox="1"/>
          <p:nvPr userDrawn="1"/>
        </p:nvSpPr>
        <p:spPr>
          <a:xfrm>
            <a:off x="11707484" y="6471647"/>
            <a:ext cx="501748" cy="307777"/>
          </a:xfrm>
          <a:prstGeom prst="rect">
            <a:avLst/>
          </a:prstGeom>
          <a:noFill/>
        </p:spPr>
        <p:txBody>
          <a:bodyPr wrap="square" rtlCol="0">
            <a:spAutoFit/>
          </a:bodyPr>
          <a:lstStyle/>
          <a:p>
            <a:fld id="{2B9DA09D-BCCF-4108-9A11-E782CD0D526D}" type="slidenum">
              <a:rPr lang="it-IT" sz="1400" smtClean="0">
                <a:solidFill>
                  <a:schemeClr val="bg1"/>
                </a:solidFill>
                <a:latin typeface="PT Sans" panose="020B0503020203020204" pitchFamily="34" charset="0"/>
              </a:rPr>
              <a:t>‹N›</a:t>
            </a:fld>
            <a:endParaRPr lang="it-IT" sz="1400">
              <a:solidFill>
                <a:schemeClr val="bg1"/>
              </a:solidFill>
              <a:latin typeface="PT Sans" panose="020B0503020203020204" pitchFamily="34" charset="0"/>
            </a:endParaRPr>
          </a:p>
        </p:txBody>
      </p:sp>
      <p:sp>
        <p:nvSpPr>
          <p:cNvPr id="6" name="Rettangolo 5"/>
          <p:cNvSpPr/>
          <p:nvPr userDrawn="1"/>
        </p:nvSpPr>
        <p:spPr>
          <a:xfrm>
            <a:off x="407403" y="1980001"/>
            <a:ext cx="11322327" cy="461665"/>
          </a:xfrm>
          <a:prstGeom prst="rect">
            <a:avLst/>
          </a:prstGeom>
          <a:noFill/>
        </p:spPr>
        <p:txBody>
          <a:bodyPr wrap="square">
            <a:spAutoFit/>
          </a:bodyPr>
          <a:lstStyle/>
          <a:p>
            <a:endParaRPr lang="it-IT" sz="2400">
              <a:latin typeface="PT Sans" panose="020B0503020203020204" pitchFamily="34" charset="0"/>
            </a:endParaRPr>
          </a:p>
        </p:txBody>
      </p:sp>
      <p:sp>
        <p:nvSpPr>
          <p:cNvPr id="7" name="Rettangolo 6"/>
          <p:cNvSpPr/>
          <p:nvPr userDrawn="1"/>
        </p:nvSpPr>
        <p:spPr>
          <a:xfrm>
            <a:off x="407403" y="560643"/>
            <a:ext cx="10411019" cy="523220"/>
          </a:xfrm>
          <a:prstGeom prst="rect">
            <a:avLst/>
          </a:prstGeom>
          <a:noFill/>
        </p:spPr>
        <p:txBody>
          <a:bodyPr wrap="square">
            <a:spAutoFit/>
          </a:bodyPr>
          <a:lstStyle/>
          <a:p>
            <a:endParaRPr lang="it-IT" sz="2800">
              <a:solidFill>
                <a:srgbClr val="475968"/>
              </a:solidFill>
              <a:latin typeface="Brandon Grotesque Black" panose="020B0A03020203060202" pitchFamily="34" charset="0"/>
              <a:cs typeface="Times New Roman" panose="02020603050405020304" pitchFamily="18" charset="0"/>
            </a:endParaRPr>
          </a:p>
        </p:txBody>
      </p:sp>
    </p:spTree>
    <p:extLst>
      <p:ext uri="{BB962C8B-B14F-4D97-AF65-F5344CB8AC3E}">
        <p14:creationId xmlns:p14="http://schemas.microsoft.com/office/powerpoint/2010/main" val="16432912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C092E40-C8E6-6A75-0866-6A756249A1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E0BDC3C-FC59-2261-970D-B4E0CB4A85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5C2200A-C18C-D143-D4AB-9603CFB4E8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C1619A-9F27-1A48-93BE-3FA40E0CDCB9}" type="datetimeFigureOut">
              <a:rPr lang="it-IT" smtClean="0"/>
              <a:t>29/08/26</a:t>
            </a:fld>
            <a:endParaRPr lang="it-IT"/>
          </a:p>
        </p:txBody>
      </p:sp>
      <p:sp>
        <p:nvSpPr>
          <p:cNvPr id="5" name="Segnaposto piè di pagina 4">
            <a:extLst>
              <a:ext uri="{FF2B5EF4-FFF2-40B4-BE49-F238E27FC236}">
                <a16:creationId xmlns:a16="http://schemas.microsoft.com/office/drawing/2014/main" id="{83BD3C16-6AF2-7B6C-C8A3-B6B3AF8EAB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9C8307B2-3776-389E-7B99-6206E2B37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2BCD05-40BA-E447-8005-1FDAB40B4E6E}" type="slidenum">
              <a:rPr lang="it-IT" smtClean="0"/>
              <a:t>‹N›</a:t>
            </a:fld>
            <a:endParaRPr lang="it-IT"/>
          </a:p>
        </p:txBody>
      </p:sp>
    </p:spTree>
    <p:extLst>
      <p:ext uri="{BB962C8B-B14F-4D97-AF65-F5344CB8AC3E}">
        <p14:creationId xmlns:p14="http://schemas.microsoft.com/office/powerpoint/2010/main" val="182533731"/>
      </p:ext>
    </p:extLst>
  </p:cSld>
  <p:clrMap bg1="lt1" tx1="dk1" bg2="lt2" tx2="dk2" accent1="accent1" accent2="accent2" accent3="accent3" accent4="accent4" accent5="accent5" accent6="accent6" hlink="hlink" folHlink="folHlink"/>
  <p:sldLayoutIdLst>
    <p:sldLayoutId id="2147483660" r:id="rId1"/>
    <p:sldLayoutId id="214748366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7A6646-94B9-EADE-A39B-1478B67DBEED}"/>
              </a:ext>
            </a:extLst>
          </p:cNvPr>
          <p:cNvSpPr txBox="1"/>
          <p:nvPr/>
        </p:nvSpPr>
        <p:spPr>
          <a:xfrm>
            <a:off x="474563" y="2943711"/>
            <a:ext cx="9456577" cy="1938992"/>
          </a:xfrm>
          <a:prstGeom prst="rect">
            <a:avLst/>
          </a:prstGeom>
          <a:noFill/>
        </p:spPr>
        <p:txBody>
          <a:bodyPr wrap="square" lIns="91440" tIns="45720" rIns="91440" bIns="45720" rtlCol="0" anchor="t">
            <a:spAutoFit/>
          </a:bodyPr>
          <a:lstStyle/>
          <a:p>
            <a:r>
              <a:rPr lang="en-US" sz="3000" b="1">
                <a:solidFill>
                  <a:schemeClr val="bg1"/>
                </a:solidFill>
                <a:latin typeface="Bangla MN"/>
                <a:ea typeface="Hiragino Kaku Gothic Std W8"/>
              </a:rPr>
              <a:t>Development of a vascularized 3D scaffold for tissue regeneration using plant-derived materials</a:t>
            </a:r>
          </a:p>
          <a:p>
            <a:r>
              <a:rPr lang="en-US" sz="3000" b="1">
                <a:solidFill>
                  <a:schemeClr val="bg1"/>
                </a:solidFill>
                <a:latin typeface="Bangla MN"/>
                <a:ea typeface="Hiragino Kaku Gothic Std W8"/>
              </a:rPr>
              <a:t>- Liver tissue regeneration</a:t>
            </a:r>
          </a:p>
        </p:txBody>
      </p:sp>
      <p:sp>
        <p:nvSpPr>
          <p:cNvPr id="3" name="TextBox 2">
            <a:extLst>
              <a:ext uri="{FF2B5EF4-FFF2-40B4-BE49-F238E27FC236}">
                <a16:creationId xmlns:a16="http://schemas.microsoft.com/office/drawing/2014/main" id="{E1CED241-5533-13A3-8DDE-EBB0547D723D}"/>
              </a:ext>
            </a:extLst>
          </p:cNvPr>
          <p:cNvSpPr txBox="1"/>
          <p:nvPr/>
        </p:nvSpPr>
        <p:spPr>
          <a:xfrm>
            <a:off x="474563" y="5225167"/>
            <a:ext cx="3275127" cy="1354217"/>
          </a:xfrm>
          <a:prstGeom prst="rect">
            <a:avLst/>
          </a:prstGeom>
          <a:noFill/>
        </p:spPr>
        <p:txBody>
          <a:bodyPr wrap="none" lIns="91440" tIns="45720" rIns="91440" bIns="45720" rtlCol="0" anchor="t">
            <a:spAutoFit/>
          </a:bodyPr>
          <a:lstStyle/>
          <a:p>
            <a:r>
              <a:rPr lang="en-US" sz="1600" b="1">
                <a:solidFill>
                  <a:schemeClr val="bg1"/>
                </a:solidFill>
                <a:latin typeface="Aptos"/>
                <a:ea typeface="Hiragino Kaku Gothic Std W8"/>
              </a:rPr>
              <a:t>260344 Ares Brambilla</a:t>
            </a:r>
          </a:p>
          <a:p>
            <a:r>
              <a:rPr lang="en-US" sz="1600" b="1">
                <a:solidFill>
                  <a:schemeClr val="bg1"/>
                </a:solidFill>
                <a:latin typeface="Aptos"/>
                <a:ea typeface="Hiragino Kaku Gothic Std W8"/>
              </a:rPr>
              <a:t>280549 Andrea Col</a:t>
            </a:r>
            <a:endParaRPr lang="en-US" sz="1600">
              <a:solidFill>
                <a:schemeClr val="bg1"/>
              </a:solidFill>
              <a:latin typeface="Aptos"/>
              <a:ea typeface="Hiragino Kaku Gothic Std W8"/>
            </a:endParaRPr>
          </a:p>
          <a:p>
            <a:r>
              <a:rPr lang="en-US" sz="1600" b="1">
                <a:solidFill>
                  <a:schemeClr val="bg1"/>
                </a:solidFill>
                <a:latin typeface="Aptos"/>
                <a:ea typeface="Hiragino Kaku Gothic Std W8"/>
              </a:rPr>
              <a:t>260155 Elisa Colombo </a:t>
            </a:r>
            <a:endParaRPr lang="en-US">
              <a:solidFill>
                <a:schemeClr val="bg1"/>
              </a:solidFill>
              <a:latin typeface="Calibri" panose="020F0502020204030204"/>
              <a:ea typeface="Calibri"/>
              <a:cs typeface="Calibri"/>
            </a:endParaRPr>
          </a:p>
          <a:p>
            <a:r>
              <a:rPr lang="en-US" sz="1600" b="1">
                <a:solidFill>
                  <a:schemeClr val="bg1"/>
                </a:solidFill>
                <a:latin typeface="Aptos"/>
                <a:ea typeface="Hiragino Kaku Gothic Std W8"/>
              </a:rPr>
              <a:t>259192 Rebecca Maria Di Giacinti</a:t>
            </a:r>
            <a:endParaRPr lang="en-US">
              <a:solidFill>
                <a:schemeClr val="bg1"/>
              </a:solidFill>
              <a:latin typeface="Calibri" panose="020F0502020204030204"/>
              <a:ea typeface="Calibri"/>
              <a:cs typeface="Calibri"/>
            </a:endParaRPr>
          </a:p>
          <a:p>
            <a:r>
              <a:rPr lang="en-US" sz="1600" b="1">
                <a:solidFill>
                  <a:schemeClr val="bg1"/>
                </a:solidFill>
                <a:latin typeface="Aptos"/>
                <a:ea typeface="Hiragino Kaku Gothic Std W8"/>
                <a:cs typeface="Calibri"/>
              </a:rPr>
              <a:t>259093 Beatrice Lino</a:t>
            </a:r>
          </a:p>
        </p:txBody>
      </p:sp>
      <p:sp>
        <p:nvSpPr>
          <p:cNvPr id="4" name="TextBox 3">
            <a:extLst>
              <a:ext uri="{FF2B5EF4-FFF2-40B4-BE49-F238E27FC236}">
                <a16:creationId xmlns:a16="http://schemas.microsoft.com/office/drawing/2014/main" id="{EF232485-64AE-A594-D6C4-2DCBBD6253E2}"/>
              </a:ext>
            </a:extLst>
          </p:cNvPr>
          <p:cNvSpPr txBox="1"/>
          <p:nvPr/>
        </p:nvSpPr>
        <p:spPr>
          <a:xfrm>
            <a:off x="7783384" y="5901208"/>
            <a:ext cx="4283993" cy="553998"/>
          </a:xfrm>
          <a:prstGeom prst="rect">
            <a:avLst/>
          </a:prstGeom>
          <a:noFill/>
        </p:spPr>
        <p:txBody>
          <a:bodyPr wrap="none" lIns="91440" tIns="45720" rIns="91440" bIns="45720" rtlCol="0" anchor="t">
            <a:spAutoFit/>
          </a:bodyPr>
          <a:lstStyle/>
          <a:p>
            <a:r>
              <a:rPr lang="en-US" sz="1500" b="1">
                <a:solidFill>
                  <a:schemeClr val="bg1"/>
                </a:solidFill>
                <a:latin typeface="Bangla MN"/>
                <a:ea typeface="Hiragino Kaku Gothic Std W8"/>
                <a:cs typeface="Bangla MN" pitchFamily="2" charset="0"/>
              </a:rPr>
              <a:t>Bioartificial and Biomimetic Structures</a:t>
            </a:r>
          </a:p>
          <a:p>
            <a:r>
              <a:rPr lang="en-US" sz="1500" b="1">
                <a:solidFill>
                  <a:schemeClr val="bg1"/>
                </a:solidFill>
                <a:latin typeface="Bangla MN"/>
                <a:ea typeface="Hiragino Kaku Gothic Std W8"/>
                <a:cs typeface="Bangla MN" pitchFamily="2" charset="0"/>
              </a:rPr>
              <a:t>			Prof S. Farè</a:t>
            </a:r>
            <a:endParaRPr lang="en-US" sz="1500" b="1">
              <a:solidFill>
                <a:schemeClr val="bg1"/>
              </a:solidFill>
              <a:latin typeface="Bangla MN" pitchFamily="2" charset="0"/>
              <a:ea typeface="Hiragino Kaku Gothic Std W8" panose="020B0800000000000000" pitchFamily="34" charset="-128"/>
              <a:cs typeface="Bangla MN" pitchFamily="2" charset="0"/>
            </a:endParaRPr>
          </a:p>
        </p:txBody>
      </p:sp>
    </p:spTree>
    <p:extLst>
      <p:ext uri="{BB962C8B-B14F-4D97-AF65-F5344CB8AC3E}">
        <p14:creationId xmlns:p14="http://schemas.microsoft.com/office/powerpoint/2010/main" val="1751112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2553-6A33-800D-4A56-05BE27759C6F}"/>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51E5404C-B663-F211-0FE2-71180B06FEF0}"/>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a:ea typeface="Hiragino Kaku Gothic Std W8"/>
                <a:cs typeface="Bangla MN" pitchFamily="2" charset="0"/>
              </a:rPr>
              <a:t>INTRODUCTION </a:t>
            </a:r>
          </a:p>
        </p:txBody>
      </p:sp>
      <p:sp>
        <p:nvSpPr>
          <p:cNvPr id="6" name="CasellaDiTesto 3">
            <a:extLst>
              <a:ext uri="{FF2B5EF4-FFF2-40B4-BE49-F238E27FC236}">
                <a16:creationId xmlns:a16="http://schemas.microsoft.com/office/drawing/2014/main" id="{8540B75B-A827-9E92-33A1-AABF7FB196A3}"/>
              </a:ext>
            </a:extLst>
          </p:cNvPr>
          <p:cNvSpPr txBox="1"/>
          <p:nvPr/>
        </p:nvSpPr>
        <p:spPr>
          <a:xfrm>
            <a:off x="368440" y="982758"/>
            <a:ext cx="1182356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Bangla MN" pitchFamily="2" charset="0"/>
                <a:cs typeface="Bangla MN" pitchFamily="2" charset="0"/>
              </a:rPr>
              <a:t>Chronic liver diseases</a:t>
            </a:r>
            <a:endParaRPr lang="en-US" sz="2200" baseline="30000">
              <a:latin typeface="Bangla MN" pitchFamily="2" charset="0"/>
              <a:cs typeface="Bangla MN" pitchFamily="2" charset="0"/>
            </a:endParaRPr>
          </a:p>
        </p:txBody>
      </p:sp>
      <p:sp>
        <p:nvSpPr>
          <p:cNvPr id="10" name="TextBox 15">
            <a:extLst>
              <a:ext uri="{FF2B5EF4-FFF2-40B4-BE49-F238E27FC236}">
                <a16:creationId xmlns:a16="http://schemas.microsoft.com/office/drawing/2014/main" id="{9ADC3DA7-181B-7602-1D43-8B5E6E0E2964}"/>
              </a:ext>
            </a:extLst>
          </p:cNvPr>
          <p:cNvSpPr txBox="1"/>
          <p:nvPr/>
        </p:nvSpPr>
        <p:spPr>
          <a:xfrm>
            <a:off x="4790310" y="2769321"/>
            <a:ext cx="2191626"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1" name="TextBox 13">
            <a:extLst>
              <a:ext uri="{FF2B5EF4-FFF2-40B4-BE49-F238E27FC236}">
                <a16:creationId xmlns:a16="http://schemas.microsoft.com/office/drawing/2014/main" id="{F62D27C3-570C-0CC8-87CD-22AA8B72DFE7}"/>
              </a:ext>
            </a:extLst>
          </p:cNvPr>
          <p:cNvSpPr txBox="1"/>
          <p:nvPr/>
        </p:nvSpPr>
        <p:spPr>
          <a:xfrm>
            <a:off x="3834531" y="4949056"/>
            <a:ext cx="119776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FFFFFF"/>
                </a:solidFill>
                <a:latin typeface="Bangla MN" pitchFamily="2" charset="0"/>
                <a:cs typeface="Bangla MN" pitchFamily="2" charset="0"/>
              </a:rPr>
              <a:t>AMBIENT</a:t>
            </a:r>
          </a:p>
        </p:txBody>
      </p:sp>
      <p:pic>
        <p:nvPicPr>
          <p:cNvPr id="5" name="Immagine 4" descr="Picture containing text, screenshot, circle, Font&#10;&#10;Automatically generated description">
            <a:extLst>
              <a:ext uri="{FF2B5EF4-FFF2-40B4-BE49-F238E27FC236}">
                <a16:creationId xmlns:a16="http://schemas.microsoft.com/office/drawing/2014/main" id="{764010E7-13CA-6F5B-0349-8810392D0594}"/>
              </a:ext>
            </a:extLst>
          </p:cNvPr>
          <p:cNvPicPr>
            <a:picLocks noChangeAspect="1"/>
          </p:cNvPicPr>
          <p:nvPr/>
        </p:nvPicPr>
        <p:blipFill>
          <a:blip r:embed="rId2"/>
          <a:stretch>
            <a:fillRect/>
          </a:stretch>
        </p:blipFill>
        <p:spPr>
          <a:xfrm>
            <a:off x="812849" y="1619772"/>
            <a:ext cx="3977461" cy="4693546"/>
          </a:xfrm>
          <a:prstGeom prst="rect">
            <a:avLst/>
          </a:prstGeom>
        </p:spPr>
      </p:pic>
      <p:pic>
        <p:nvPicPr>
          <p:cNvPr id="9" name="Immagine 8">
            <a:extLst>
              <a:ext uri="{FF2B5EF4-FFF2-40B4-BE49-F238E27FC236}">
                <a16:creationId xmlns:a16="http://schemas.microsoft.com/office/drawing/2014/main" id="{522030AC-D667-EF95-69FA-74F23BAC9931}"/>
              </a:ext>
            </a:extLst>
          </p:cNvPr>
          <p:cNvPicPr>
            <a:picLocks noChangeAspect="1"/>
          </p:cNvPicPr>
          <p:nvPr/>
        </p:nvPicPr>
        <p:blipFill>
          <a:blip r:embed="rId3"/>
          <a:stretch>
            <a:fillRect/>
          </a:stretch>
        </p:blipFill>
        <p:spPr>
          <a:xfrm>
            <a:off x="2271694" y="3709722"/>
            <a:ext cx="1059770" cy="1059770"/>
          </a:xfrm>
          <a:prstGeom prst="rect">
            <a:avLst/>
          </a:prstGeom>
        </p:spPr>
      </p:pic>
      <p:sp>
        <p:nvSpPr>
          <p:cNvPr id="12" name="CasellaDiTesto 11">
            <a:extLst>
              <a:ext uri="{FF2B5EF4-FFF2-40B4-BE49-F238E27FC236}">
                <a16:creationId xmlns:a16="http://schemas.microsoft.com/office/drawing/2014/main" id="{D19B6EBF-A62B-7C25-A921-99552F4D55BC}"/>
              </a:ext>
            </a:extLst>
          </p:cNvPr>
          <p:cNvSpPr txBox="1"/>
          <p:nvPr/>
        </p:nvSpPr>
        <p:spPr>
          <a:xfrm>
            <a:off x="6096313" y="2506112"/>
            <a:ext cx="3252486" cy="1477328"/>
          </a:xfrm>
          <a:prstGeom prst="rect">
            <a:avLst/>
          </a:prstGeom>
          <a:noFill/>
        </p:spPr>
        <p:txBody>
          <a:bodyPr wrap="square" lIns="91440" tIns="45720" rIns="91440" bIns="45720" rtlCol="0" anchor="t">
            <a:spAutoFit/>
          </a:bodyPr>
          <a:lstStyle/>
          <a:p>
            <a:r>
              <a:rPr lang="en-US">
                <a:ea typeface="Calibri" panose="020F0502020204030204"/>
                <a:cs typeface="Calibri" panose="020F0502020204030204"/>
              </a:rPr>
              <a:t>Liver functions:</a:t>
            </a:r>
          </a:p>
          <a:p>
            <a:pPr marL="285750" indent="-285750">
              <a:buFont typeface="Arial"/>
              <a:buChar char="•"/>
            </a:pPr>
            <a:r>
              <a:rPr lang="en-US"/>
              <a:t>Homeostasis </a:t>
            </a:r>
            <a:endParaRPr lang="en-US">
              <a:ea typeface="Calibri"/>
              <a:cs typeface="Calibri"/>
            </a:endParaRPr>
          </a:p>
          <a:p>
            <a:pPr marL="285750" indent="-285750">
              <a:buFont typeface="Arial"/>
              <a:buChar char="•"/>
            </a:pPr>
            <a:r>
              <a:rPr lang="en-US"/>
              <a:t>Xenobiotic metabolism</a:t>
            </a:r>
            <a:endParaRPr lang="en-US">
              <a:ea typeface="Calibri" panose="020F0502020204030204"/>
              <a:cs typeface="Calibri" panose="020F0502020204030204"/>
            </a:endParaRPr>
          </a:p>
          <a:p>
            <a:pPr marL="285750" indent="-285750">
              <a:buFont typeface="Arial"/>
              <a:buChar char="•"/>
            </a:pPr>
            <a:r>
              <a:rPr lang="en-US"/>
              <a:t>Detoxification </a:t>
            </a:r>
            <a:endParaRPr lang="en-US">
              <a:ea typeface="Calibri" panose="020F0502020204030204"/>
              <a:cs typeface="Calibri" panose="020F0502020204030204"/>
            </a:endParaRPr>
          </a:p>
          <a:p>
            <a:pPr marL="285750" indent="-285750">
              <a:buFont typeface="Arial"/>
              <a:buChar char="•"/>
            </a:pPr>
            <a:r>
              <a:rPr lang="en-US"/>
              <a:t>Immune regulation</a:t>
            </a:r>
            <a:endParaRPr lang="en-US">
              <a:ea typeface="Calibri" panose="020F0502020204030204"/>
              <a:cs typeface="Calibri" panose="020F0502020204030204"/>
            </a:endParaRPr>
          </a:p>
        </p:txBody>
      </p:sp>
      <p:pic>
        <p:nvPicPr>
          <p:cNvPr id="8" name="Immagine 7" descr="Picture containing Graphics, Font, graphics, screenshot&#10;&#10;Automatically generated description">
            <a:extLst>
              <a:ext uri="{FF2B5EF4-FFF2-40B4-BE49-F238E27FC236}">
                <a16:creationId xmlns:a16="http://schemas.microsoft.com/office/drawing/2014/main" id="{017F41F5-1CA4-36DA-9B9D-54319A6ECE23}"/>
              </a:ext>
            </a:extLst>
          </p:cNvPr>
          <p:cNvPicPr>
            <a:picLocks noChangeAspect="1"/>
          </p:cNvPicPr>
          <p:nvPr/>
        </p:nvPicPr>
        <p:blipFill>
          <a:blip r:embed="rId4"/>
          <a:stretch>
            <a:fillRect/>
          </a:stretch>
        </p:blipFill>
        <p:spPr>
          <a:xfrm>
            <a:off x="5886123" y="4446326"/>
            <a:ext cx="3634446" cy="646332"/>
          </a:xfrm>
          <a:prstGeom prst="rect">
            <a:avLst/>
          </a:prstGeom>
        </p:spPr>
      </p:pic>
      <p:sp>
        <p:nvSpPr>
          <p:cNvPr id="14" name="CasellaDiTesto 13">
            <a:extLst>
              <a:ext uri="{FF2B5EF4-FFF2-40B4-BE49-F238E27FC236}">
                <a16:creationId xmlns:a16="http://schemas.microsoft.com/office/drawing/2014/main" id="{0A567309-D167-04F3-D29B-60071619187E}"/>
              </a:ext>
            </a:extLst>
          </p:cNvPr>
          <p:cNvSpPr txBox="1"/>
          <p:nvPr/>
        </p:nvSpPr>
        <p:spPr>
          <a:xfrm>
            <a:off x="5486086" y="5117982"/>
            <a:ext cx="4469831" cy="369332"/>
          </a:xfrm>
          <a:prstGeom prst="rect">
            <a:avLst/>
          </a:prstGeom>
          <a:noFill/>
        </p:spPr>
        <p:txBody>
          <a:bodyPr wrap="square" rtlCol="0">
            <a:spAutoFit/>
          </a:bodyPr>
          <a:lstStyle/>
          <a:p>
            <a:r>
              <a:rPr lang="en-US"/>
              <a:t>2 million deaths worldwide every year</a:t>
            </a:r>
          </a:p>
        </p:txBody>
      </p:sp>
    </p:spTree>
    <p:extLst>
      <p:ext uri="{BB962C8B-B14F-4D97-AF65-F5344CB8AC3E}">
        <p14:creationId xmlns:p14="http://schemas.microsoft.com/office/powerpoint/2010/main" val="4068283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B8CDB-00BF-CE9D-B266-8B1C51047B68}"/>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80394382-AE78-3D56-823F-B28D8BBA97B7}"/>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a:ea typeface="Hiragino Kaku Gothic Std W8"/>
                <a:cs typeface="Bangla MN" pitchFamily="2" charset="0"/>
              </a:rPr>
              <a:t>INTRODUCTION - treatments</a:t>
            </a:r>
          </a:p>
        </p:txBody>
      </p:sp>
      <p:sp>
        <p:nvSpPr>
          <p:cNvPr id="10" name="TextBox 15">
            <a:extLst>
              <a:ext uri="{FF2B5EF4-FFF2-40B4-BE49-F238E27FC236}">
                <a16:creationId xmlns:a16="http://schemas.microsoft.com/office/drawing/2014/main" id="{BE630D70-0375-1047-44BB-8DE6529065B5}"/>
              </a:ext>
            </a:extLst>
          </p:cNvPr>
          <p:cNvSpPr txBox="1"/>
          <p:nvPr/>
        </p:nvSpPr>
        <p:spPr>
          <a:xfrm>
            <a:off x="4790310" y="2769321"/>
            <a:ext cx="2191626" cy="10772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rgbClr val="FFFFFF"/>
                </a:solidFill>
                <a:latin typeface="Bangla MN" pitchFamily="2" charset="0"/>
                <a:cs typeface="Bangla MN" pitchFamily="2" charset="0"/>
              </a:rPr>
              <a:t>MORPHEUS</a:t>
            </a:r>
          </a:p>
        </p:txBody>
      </p:sp>
      <p:pic>
        <p:nvPicPr>
          <p:cNvPr id="8" name="Immagine 7">
            <a:extLst>
              <a:ext uri="{FF2B5EF4-FFF2-40B4-BE49-F238E27FC236}">
                <a16:creationId xmlns:a16="http://schemas.microsoft.com/office/drawing/2014/main" id="{AE121CD9-3DF0-CB36-5491-C1D76266A91F}"/>
              </a:ext>
            </a:extLst>
          </p:cNvPr>
          <p:cNvPicPr>
            <a:picLocks noChangeAspect="1"/>
          </p:cNvPicPr>
          <p:nvPr/>
        </p:nvPicPr>
        <p:blipFill>
          <a:blip r:embed="rId2">
            <a:alphaModFix amt="10000"/>
          </a:blip>
          <a:stretch>
            <a:fillRect/>
          </a:stretch>
        </p:blipFill>
        <p:spPr>
          <a:xfrm>
            <a:off x="2546430" y="1425794"/>
            <a:ext cx="4316758" cy="4316758"/>
          </a:xfrm>
          <a:prstGeom prst="rect">
            <a:avLst/>
          </a:prstGeom>
          <a:noFill/>
        </p:spPr>
      </p:pic>
      <p:grpSp>
        <p:nvGrpSpPr>
          <p:cNvPr id="7" name="Gruppo 6">
            <a:extLst>
              <a:ext uri="{FF2B5EF4-FFF2-40B4-BE49-F238E27FC236}">
                <a16:creationId xmlns:a16="http://schemas.microsoft.com/office/drawing/2014/main" id="{5083B705-2DF6-04A1-2F79-851DE0F825C8}"/>
              </a:ext>
            </a:extLst>
          </p:cNvPr>
          <p:cNvGrpSpPr/>
          <p:nvPr/>
        </p:nvGrpSpPr>
        <p:grpSpPr>
          <a:xfrm>
            <a:off x="942632" y="2395958"/>
            <a:ext cx="7749423" cy="2492990"/>
            <a:chOff x="1209698" y="1770925"/>
            <a:chExt cx="7524355" cy="2492990"/>
          </a:xfrm>
        </p:grpSpPr>
        <p:sp>
          <p:nvSpPr>
            <p:cNvPr id="2" name="CasellaDiTesto 1">
              <a:extLst>
                <a:ext uri="{FF2B5EF4-FFF2-40B4-BE49-F238E27FC236}">
                  <a16:creationId xmlns:a16="http://schemas.microsoft.com/office/drawing/2014/main" id="{8762F784-1711-B2BB-1290-CD8660258BF3}"/>
                </a:ext>
              </a:extLst>
            </p:cNvPr>
            <p:cNvSpPr txBox="1"/>
            <p:nvPr/>
          </p:nvSpPr>
          <p:spPr>
            <a:xfrm>
              <a:off x="1209698" y="1770925"/>
              <a:ext cx="2624834" cy="2462213"/>
            </a:xfrm>
            <a:prstGeom prst="rect">
              <a:avLst/>
            </a:prstGeom>
            <a:noFill/>
          </p:spPr>
          <p:txBody>
            <a:bodyPr wrap="square" rtlCol="0">
              <a:spAutoFit/>
            </a:bodyPr>
            <a:lstStyle/>
            <a:p>
              <a:r>
                <a:rPr lang="en-US" sz="2000">
                  <a:solidFill>
                    <a:srgbClr val="D56278"/>
                  </a:solidFill>
                </a:rPr>
                <a:t>Orthotopic liver transplantation (OLT)</a:t>
              </a:r>
            </a:p>
            <a:p>
              <a:endParaRPr lang="en-US"/>
            </a:p>
            <a:p>
              <a:r>
                <a:rPr lang="en-US" sz="1600"/>
                <a:t>Gold standard and currently the best known treatment for liver failure. Donor availability and immunosuppressive drugs are the critical points.</a:t>
              </a:r>
            </a:p>
          </p:txBody>
        </p:sp>
        <p:sp>
          <p:nvSpPr>
            <p:cNvPr id="4" name="CasellaDiTesto 3">
              <a:extLst>
                <a:ext uri="{FF2B5EF4-FFF2-40B4-BE49-F238E27FC236}">
                  <a16:creationId xmlns:a16="http://schemas.microsoft.com/office/drawing/2014/main" id="{84101DBD-AAF2-9165-CAC8-D2CBF2239E43}"/>
                </a:ext>
              </a:extLst>
            </p:cNvPr>
            <p:cNvSpPr txBox="1"/>
            <p:nvPr/>
          </p:nvSpPr>
          <p:spPr>
            <a:xfrm>
              <a:off x="3830459" y="1770925"/>
              <a:ext cx="2453833" cy="2492990"/>
            </a:xfrm>
            <a:prstGeom prst="rect">
              <a:avLst/>
            </a:prstGeom>
            <a:noFill/>
          </p:spPr>
          <p:txBody>
            <a:bodyPr wrap="square" lIns="91440" tIns="45720" rIns="91440" bIns="45720" rtlCol="0" anchor="t">
              <a:spAutoFit/>
            </a:bodyPr>
            <a:lstStyle/>
            <a:p>
              <a:r>
                <a:rPr lang="en-US" sz="2000">
                  <a:solidFill>
                    <a:srgbClr val="D56278"/>
                  </a:solidFill>
                </a:rPr>
                <a:t>Extracorporeal liver support</a:t>
              </a:r>
            </a:p>
            <a:p>
              <a:endParaRPr lang="en-US" sz="2000"/>
            </a:p>
            <a:p>
              <a:r>
                <a:rPr lang="en-US" sz="1600"/>
                <a:t>For patients on the waiting list or in the early stages after transplantation. Limits on movement and volumes, and optimal oxygen supply.</a:t>
              </a:r>
              <a:endParaRPr lang="en-US" sz="1600">
                <a:ea typeface="Calibri"/>
                <a:cs typeface="Calibri"/>
              </a:endParaRPr>
            </a:p>
          </p:txBody>
        </p:sp>
        <p:sp>
          <p:nvSpPr>
            <p:cNvPr id="5" name="CasellaDiTesto 4">
              <a:extLst>
                <a:ext uri="{FF2B5EF4-FFF2-40B4-BE49-F238E27FC236}">
                  <a16:creationId xmlns:a16="http://schemas.microsoft.com/office/drawing/2014/main" id="{4C62295C-6195-7E63-0570-E0283F4E9A46}"/>
                </a:ext>
              </a:extLst>
            </p:cNvPr>
            <p:cNvSpPr txBox="1"/>
            <p:nvPr/>
          </p:nvSpPr>
          <p:spPr>
            <a:xfrm>
              <a:off x="6280220" y="1784339"/>
              <a:ext cx="2453833" cy="2185214"/>
            </a:xfrm>
            <a:prstGeom prst="rect">
              <a:avLst/>
            </a:prstGeom>
            <a:noFill/>
          </p:spPr>
          <p:txBody>
            <a:bodyPr wrap="square" rtlCol="0">
              <a:spAutoFit/>
            </a:bodyPr>
            <a:lstStyle/>
            <a:p>
              <a:r>
                <a:rPr lang="en-US" sz="2000">
                  <a:solidFill>
                    <a:srgbClr val="D56278"/>
                  </a:solidFill>
                </a:rPr>
                <a:t>Tissue engineering</a:t>
              </a:r>
            </a:p>
            <a:p>
              <a:endParaRPr lang="en-US"/>
            </a:p>
            <a:p>
              <a:endParaRPr lang="en-US"/>
            </a:p>
            <a:p>
              <a:r>
                <a:rPr lang="en-US" sz="1600"/>
                <a:t>Innovative and accessible solution to reduce the mortality rate, without the previous restrictions. </a:t>
              </a:r>
            </a:p>
          </p:txBody>
        </p:sp>
      </p:grpSp>
      <p:pic>
        <p:nvPicPr>
          <p:cNvPr id="9" name="Immagine 8">
            <a:extLst>
              <a:ext uri="{FF2B5EF4-FFF2-40B4-BE49-F238E27FC236}">
                <a16:creationId xmlns:a16="http://schemas.microsoft.com/office/drawing/2014/main" id="{425741A5-36FE-CA81-CF07-7FD6F6C6F2BE}"/>
              </a:ext>
            </a:extLst>
          </p:cNvPr>
          <p:cNvPicPr>
            <a:picLocks noChangeAspect="1"/>
          </p:cNvPicPr>
          <p:nvPr/>
        </p:nvPicPr>
        <p:blipFill>
          <a:blip r:embed="rId3">
            <a:alphaModFix amt="21000"/>
          </a:blip>
          <a:stretch>
            <a:fillRect/>
          </a:stretch>
        </p:blipFill>
        <p:spPr>
          <a:xfrm>
            <a:off x="8972952" y="2286360"/>
            <a:ext cx="2285279" cy="2285279"/>
          </a:xfrm>
          <a:prstGeom prst="rect">
            <a:avLst/>
          </a:prstGeom>
        </p:spPr>
      </p:pic>
    </p:spTree>
    <p:extLst>
      <p:ext uri="{BB962C8B-B14F-4D97-AF65-F5344CB8AC3E}">
        <p14:creationId xmlns:p14="http://schemas.microsoft.com/office/powerpoint/2010/main" val="3356027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29CE-8BA3-3183-143B-95E753B85F67}"/>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FB38EF9D-A0B0-A09A-08FE-51D02BE9ACB7}"/>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STRUCTURE AND REQUIREMENTS</a:t>
            </a:r>
          </a:p>
        </p:txBody>
      </p:sp>
      <p:pic>
        <p:nvPicPr>
          <p:cNvPr id="2" name="Immagine 1">
            <a:extLst>
              <a:ext uri="{FF2B5EF4-FFF2-40B4-BE49-F238E27FC236}">
                <a16:creationId xmlns:a16="http://schemas.microsoft.com/office/drawing/2014/main" id="{3E7C1D83-FD4A-4776-2484-4DAEBA362748}"/>
              </a:ext>
            </a:extLst>
          </p:cNvPr>
          <p:cNvPicPr>
            <a:picLocks noChangeAspect="1"/>
          </p:cNvPicPr>
          <p:nvPr/>
        </p:nvPicPr>
        <p:blipFill>
          <a:blip r:embed="rId2">
            <a:alphaModFix amt="20000"/>
          </a:blip>
          <a:stretch>
            <a:fillRect/>
          </a:stretch>
        </p:blipFill>
        <p:spPr>
          <a:xfrm>
            <a:off x="8799331" y="1198201"/>
            <a:ext cx="5149069" cy="5149069"/>
          </a:xfrm>
          <a:prstGeom prst="rect">
            <a:avLst/>
          </a:prstGeom>
        </p:spPr>
      </p:pic>
      <p:grpSp>
        <p:nvGrpSpPr>
          <p:cNvPr id="45" name="Gruppo 44">
            <a:extLst>
              <a:ext uri="{FF2B5EF4-FFF2-40B4-BE49-F238E27FC236}">
                <a16:creationId xmlns:a16="http://schemas.microsoft.com/office/drawing/2014/main" id="{0696ECE4-3F9D-4604-A177-E2E21BC76A3D}"/>
              </a:ext>
            </a:extLst>
          </p:cNvPr>
          <p:cNvGrpSpPr/>
          <p:nvPr/>
        </p:nvGrpSpPr>
        <p:grpSpPr>
          <a:xfrm>
            <a:off x="6320293" y="1197013"/>
            <a:ext cx="5179372" cy="4602697"/>
            <a:chOff x="118950" y="1152630"/>
            <a:chExt cx="5179372" cy="4602697"/>
          </a:xfrm>
        </p:grpSpPr>
        <p:pic>
          <p:nvPicPr>
            <p:cNvPr id="18" name="Immagine 17" descr="Picture containing circle, sphere&#10;&#10;Automatically generated description">
              <a:extLst>
                <a:ext uri="{FF2B5EF4-FFF2-40B4-BE49-F238E27FC236}">
                  <a16:creationId xmlns:a16="http://schemas.microsoft.com/office/drawing/2014/main" id="{726D6B32-DB70-E1D6-5201-ECBA117ED948}"/>
                </a:ext>
              </a:extLst>
            </p:cNvPr>
            <p:cNvPicPr>
              <a:picLocks noChangeAspect="1"/>
            </p:cNvPicPr>
            <p:nvPr/>
          </p:nvPicPr>
          <p:blipFill>
            <a:blip r:embed="rId3"/>
            <a:stretch>
              <a:fillRect/>
            </a:stretch>
          </p:blipFill>
          <p:spPr>
            <a:xfrm>
              <a:off x="118950" y="1152631"/>
              <a:ext cx="2782673" cy="3137908"/>
            </a:xfrm>
            <a:prstGeom prst="rect">
              <a:avLst/>
            </a:prstGeom>
          </p:spPr>
        </p:pic>
        <p:pic>
          <p:nvPicPr>
            <p:cNvPr id="22" name="Immagine 21">
              <a:extLst>
                <a:ext uri="{FF2B5EF4-FFF2-40B4-BE49-F238E27FC236}">
                  <a16:creationId xmlns:a16="http://schemas.microsoft.com/office/drawing/2014/main" id="{4A20F1D1-8EA6-0521-9BC4-2542712ED6DB}"/>
                </a:ext>
              </a:extLst>
            </p:cNvPr>
            <p:cNvPicPr>
              <a:picLocks noChangeAspect="1"/>
            </p:cNvPicPr>
            <p:nvPr/>
          </p:nvPicPr>
          <p:blipFill>
            <a:blip r:embed="rId4"/>
            <a:stretch>
              <a:fillRect/>
            </a:stretch>
          </p:blipFill>
          <p:spPr>
            <a:xfrm>
              <a:off x="2515648" y="1152630"/>
              <a:ext cx="2782674" cy="3137909"/>
            </a:xfrm>
            <a:prstGeom prst="rect">
              <a:avLst/>
            </a:prstGeom>
          </p:spPr>
        </p:pic>
        <p:sp>
          <p:nvSpPr>
            <p:cNvPr id="23" name="CasellaDiTesto 22">
              <a:extLst>
                <a:ext uri="{FF2B5EF4-FFF2-40B4-BE49-F238E27FC236}">
                  <a16:creationId xmlns:a16="http://schemas.microsoft.com/office/drawing/2014/main" id="{DA4233B3-0239-BC27-8AE3-7D3240C3E6FE}"/>
                </a:ext>
              </a:extLst>
            </p:cNvPr>
            <p:cNvSpPr txBox="1"/>
            <p:nvPr/>
          </p:nvSpPr>
          <p:spPr>
            <a:xfrm>
              <a:off x="368440" y="4277999"/>
              <a:ext cx="4929881" cy="1477328"/>
            </a:xfrm>
            <a:prstGeom prst="rect">
              <a:avLst/>
            </a:prstGeom>
            <a:noFill/>
          </p:spPr>
          <p:txBody>
            <a:bodyPr wrap="square" lIns="91440" tIns="45720" rIns="91440" bIns="45720" rtlCol="0" anchor="t">
              <a:spAutoFit/>
            </a:bodyPr>
            <a:lstStyle/>
            <a:p>
              <a:pPr algn="just"/>
              <a:r>
                <a:rPr lang="en-US"/>
                <a:t>Dense layer of connective tissue that follows the branches of blood vessels and bile ducts, delimiting the structural units called liver lobules, in which blood flows from the center to the periphery. </a:t>
              </a:r>
            </a:p>
          </p:txBody>
        </p:sp>
      </p:grpSp>
      <p:sp>
        <p:nvSpPr>
          <p:cNvPr id="30" name="Esagono orizzontale 19">
            <a:extLst>
              <a:ext uri="{FF2B5EF4-FFF2-40B4-BE49-F238E27FC236}">
                <a16:creationId xmlns:a16="http://schemas.microsoft.com/office/drawing/2014/main" id="{B1073303-831A-F6AF-1F5C-6C562E7E6A57}"/>
              </a:ext>
            </a:extLst>
          </p:cNvPr>
          <p:cNvSpPr/>
          <p:nvPr/>
        </p:nvSpPr>
        <p:spPr>
          <a:xfrm>
            <a:off x="486047" y="3043886"/>
            <a:ext cx="1672710" cy="1530837"/>
          </a:xfrm>
          <a:prstGeom prst="hexagon">
            <a:avLst/>
          </a:prstGeom>
          <a:solidFill>
            <a:srgbClr val="BCC4D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Porosity</a:t>
            </a:r>
          </a:p>
        </p:txBody>
      </p:sp>
      <p:sp>
        <p:nvSpPr>
          <p:cNvPr id="31" name="Esagono orizzontale 25">
            <a:extLst>
              <a:ext uri="{FF2B5EF4-FFF2-40B4-BE49-F238E27FC236}">
                <a16:creationId xmlns:a16="http://schemas.microsoft.com/office/drawing/2014/main" id="{4492D6F2-E239-A99F-5FF5-DCBCE3B3BA49}"/>
              </a:ext>
            </a:extLst>
          </p:cNvPr>
          <p:cNvSpPr/>
          <p:nvPr/>
        </p:nvSpPr>
        <p:spPr>
          <a:xfrm>
            <a:off x="1936291" y="2240698"/>
            <a:ext cx="1664411" cy="1493134"/>
          </a:xfrm>
          <a:prstGeom prst="hexagon">
            <a:avLst/>
          </a:prstGeom>
          <a:solidFill>
            <a:srgbClr val="C0A9B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Cell adhesion</a:t>
            </a:r>
          </a:p>
        </p:txBody>
      </p:sp>
      <p:grpSp>
        <p:nvGrpSpPr>
          <p:cNvPr id="32" name="Gruppo 31">
            <a:extLst>
              <a:ext uri="{FF2B5EF4-FFF2-40B4-BE49-F238E27FC236}">
                <a16:creationId xmlns:a16="http://schemas.microsoft.com/office/drawing/2014/main" id="{3B867E99-ACA1-0A12-1297-10C97BB43381}"/>
              </a:ext>
            </a:extLst>
          </p:cNvPr>
          <p:cNvGrpSpPr/>
          <p:nvPr/>
        </p:nvGrpSpPr>
        <p:grpSpPr>
          <a:xfrm>
            <a:off x="1934418" y="3841576"/>
            <a:ext cx="1664411" cy="1493134"/>
            <a:chOff x="2085397" y="3316147"/>
            <a:chExt cx="1664411" cy="1493134"/>
          </a:xfrm>
          <a:solidFill>
            <a:srgbClr val="6BBAEC"/>
          </a:solidFill>
        </p:grpSpPr>
        <p:sp>
          <p:nvSpPr>
            <p:cNvPr id="42" name="Esagono orizzontale 26">
              <a:extLst>
                <a:ext uri="{FF2B5EF4-FFF2-40B4-BE49-F238E27FC236}">
                  <a16:creationId xmlns:a16="http://schemas.microsoft.com/office/drawing/2014/main" id="{6BCA9421-6F24-CE1D-76FF-2DD3FE434435}"/>
                </a:ext>
              </a:extLst>
            </p:cNvPr>
            <p:cNvSpPr/>
            <p:nvPr/>
          </p:nvSpPr>
          <p:spPr>
            <a:xfrm>
              <a:off x="2085397" y="3316147"/>
              <a:ext cx="1664411" cy="1493134"/>
            </a:xfrm>
            <a:prstGeom prst="hexagon">
              <a:avLst/>
            </a:prstGeom>
            <a:solidFill>
              <a:srgbClr val="C1CFF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 name="CasellaDiTesto 42">
              <a:extLst>
                <a:ext uri="{FF2B5EF4-FFF2-40B4-BE49-F238E27FC236}">
                  <a16:creationId xmlns:a16="http://schemas.microsoft.com/office/drawing/2014/main" id="{625DF412-2E8F-68D5-D8EF-BF91D4E1E2C9}"/>
                </a:ext>
              </a:extLst>
            </p:cNvPr>
            <p:cNvSpPr txBox="1"/>
            <p:nvPr/>
          </p:nvSpPr>
          <p:spPr>
            <a:xfrm>
              <a:off x="2181879" y="3908825"/>
              <a:ext cx="1471448" cy="307777"/>
            </a:xfrm>
            <a:prstGeom prst="rect">
              <a:avLst/>
            </a:prstGeom>
            <a:noFill/>
            <a:ln>
              <a:noFill/>
            </a:ln>
          </p:spPr>
          <p:txBody>
            <a:bodyPr wrap="square" rtlCol="0">
              <a:spAutoFit/>
            </a:bodyPr>
            <a:lstStyle/>
            <a:p>
              <a:r>
                <a:rPr lang="en-US" sz="1400">
                  <a:solidFill>
                    <a:schemeClr val="bg1"/>
                  </a:solidFill>
                </a:rPr>
                <a:t>Vascularization</a:t>
              </a:r>
            </a:p>
          </p:txBody>
        </p:sp>
      </p:grpSp>
      <p:grpSp>
        <p:nvGrpSpPr>
          <p:cNvPr id="33" name="Gruppo 32">
            <a:extLst>
              <a:ext uri="{FF2B5EF4-FFF2-40B4-BE49-F238E27FC236}">
                <a16:creationId xmlns:a16="http://schemas.microsoft.com/office/drawing/2014/main" id="{39F15EA2-1BDD-C45B-A765-7B79DC47A3A2}"/>
              </a:ext>
            </a:extLst>
          </p:cNvPr>
          <p:cNvGrpSpPr/>
          <p:nvPr/>
        </p:nvGrpSpPr>
        <p:grpSpPr>
          <a:xfrm>
            <a:off x="3365739" y="4631672"/>
            <a:ext cx="1664411" cy="1493134"/>
            <a:chOff x="3516717" y="884108"/>
            <a:chExt cx="1664411" cy="1493134"/>
          </a:xfrm>
          <a:solidFill>
            <a:srgbClr val="7880B5"/>
          </a:solidFill>
        </p:grpSpPr>
        <p:sp>
          <p:nvSpPr>
            <p:cNvPr id="40" name="Esagono orizzontale 28">
              <a:extLst>
                <a:ext uri="{FF2B5EF4-FFF2-40B4-BE49-F238E27FC236}">
                  <a16:creationId xmlns:a16="http://schemas.microsoft.com/office/drawing/2014/main" id="{53749C63-4E89-B31A-AA17-14C1D717A03E}"/>
                </a:ext>
              </a:extLst>
            </p:cNvPr>
            <p:cNvSpPr/>
            <p:nvPr/>
          </p:nvSpPr>
          <p:spPr>
            <a:xfrm>
              <a:off x="3516717" y="884108"/>
              <a:ext cx="1664411" cy="1493134"/>
            </a:xfrm>
            <a:prstGeom prst="hexagon">
              <a:avLst/>
            </a:prstGeom>
            <a:solidFill>
              <a:srgbClr val="9882A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CasellaDiTesto 40">
              <a:extLst>
                <a:ext uri="{FF2B5EF4-FFF2-40B4-BE49-F238E27FC236}">
                  <a16:creationId xmlns:a16="http://schemas.microsoft.com/office/drawing/2014/main" id="{BC99A0EF-83A0-90F6-6081-A07CA4518191}"/>
                </a:ext>
              </a:extLst>
            </p:cNvPr>
            <p:cNvSpPr txBox="1"/>
            <p:nvPr/>
          </p:nvSpPr>
          <p:spPr>
            <a:xfrm>
              <a:off x="3629836" y="1442684"/>
              <a:ext cx="1438172" cy="369332"/>
            </a:xfrm>
            <a:prstGeom prst="rect">
              <a:avLst/>
            </a:prstGeom>
            <a:noFill/>
            <a:ln>
              <a:noFill/>
            </a:ln>
          </p:spPr>
          <p:txBody>
            <a:bodyPr wrap="square" rtlCol="0">
              <a:spAutoFit/>
            </a:bodyPr>
            <a:lstStyle/>
            <a:p>
              <a:r>
                <a:rPr lang="en-US">
                  <a:solidFill>
                    <a:schemeClr val="bg1"/>
                  </a:solidFill>
                </a:rPr>
                <a:t>Degradability</a:t>
              </a:r>
            </a:p>
          </p:txBody>
        </p:sp>
      </p:grpSp>
      <p:grpSp>
        <p:nvGrpSpPr>
          <p:cNvPr id="34" name="Gruppo 33">
            <a:extLst>
              <a:ext uri="{FF2B5EF4-FFF2-40B4-BE49-F238E27FC236}">
                <a16:creationId xmlns:a16="http://schemas.microsoft.com/office/drawing/2014/main" id="{D7106AD6-58B2-271B-DFD1-73F4D90A0337}"/>
              </a:ext>
            </a:extLst>
          </p:cNvPr>
          <p:cNvGrpSpPr/>
          <p:nvPr/>
        </p:nvGrpSpPr>
        <p:grpSpPr>
          <a:xfrm>
            <a:off x="3365739" y="3034622"/>
            <a:ext cx="1664411" cy="1493134"/>
            <a:chOff x="3516717" y="2520768"/>
            <a:chExt cx="1664411" cy="1493134"/>
          </a:xfrm>
          <a:solidFill>
            <a:srgbClr val="7980B5"/>
          </a:solidFill>
        </p:grpSpPr>
        <p:sp>
          <p:nvSpPr>
            <p:cNvPr id="38" name="Esagono orizzontale 27">
              <a:extLst>
                <a:ext uri="{FF2B5EF4-FFF2-40B4-BE49-F238E27FC236}">
                  <a16:creationId xmlns:a16="http://schemas.microsoft.com/office/drawing/2014/main" id="{9F4C88D3-3209-9E10-0E0F-62A715FC170C}"/>
                </a:ext>
              </a:extLst>
            </p:cNvPr>
            <p:cNvSpPr/>
            <p:nvPr/>
          </p:nvSpPr>
          <p:spPr>
            <a:xfrm>
              <a:off x="3516717" y="2520768"/>
              <a:ext cx="1664411" cy="1493134"/>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CasellaDiTesto 38">
              <a:extLst>
                <a:ext uri="{FF2B5EF4-FFF2-40B4-BE49-F238E27FC236}">
                  <a16:creationId xmlns:a16="http://schemas.microsoft.com/office/drawing/2014/main" id="{1C47991C-0BF9-E513-023D-6F2143D8C3F7}"/>
                </a:ext>
              </a:extLst>
            </p:cNvPr>
            <p:cNvSpPr txBox="1"/>
            <p:nvPr/>
          </p:nvSpPr>
          <p:spPr>
            <a:xfrm>
              <a:off x="3639474" y="2946598"/>
              <a:ext cx="1418896" cy="646331"/>
            </a:xfrm>
            <a:prstGeom prst="rect">
              <a:avLst/>
            </a:prstGeom>
            <a:noFill/>
            <a:ln>
              <a:noFill/>
            </a:ln>
          </p:spPr>
          <p:txBody>
            <a:bodyPr wrap="square" rtlCol="0">
              <a:spAutoFit/>
            </a:bodyPr>
            <a:lstStyle/>
            <a:p>
              <a:pPr algn="ctr"/>
              <a:r>
                <a:rPr lang="en-US">
                  <a:solidFill>
                    <a:schemeClr val="bg1"/>
                  </a:solidFill>
                </a:rPr>
                <a:t>Mechanical properties</a:t>
              </a:r>
            </a:p>
          </p:txBody>
        </p:sp>
      </p:grpSp>
      <p:grpSp>
        <p:nvGrpSpPr>
          <p:cNvPr id="35" name="Gruppo 34">
            <a:extLst>
              <a:ext uri="{FF2B5EF4-FFF2-40B4-BE49-F238E27FC236}">
                <a16:creationId xmlns:a16="http://schemas.microsoft.com/office/drawing/2014/main" id="{D6B71AC5-7C8E-E291-F7DA-219550B49859}"/>
              </a:ext>
            </a:extLst>
          </p:cNvPr>
          <p:cNvGrpSpPr/>
          <p:nvPr/>
        </p:nvGrpSpPr>
        <p:grpSpPr>
          <a:xfrm>
            <a:off x="3345418" y="1435100"/>
            <a:ext cx="1664411" cy="1493134"/>
            <a:chOff x="3530425" y="2520768"/>
            <a:chExt cx="1664411" cy="1493134"/>
          </a:xfrm>
          <a:solidFill>
            <a:srgbClr val="DDC9E3"/>
          </a:solidFill>
        </p:grpSpPr>
        <p:sp>
          <p:nvSpPr>
            <p:cNvPr id="36" name="Esagono orizzontale 10">
              <a:extLst>
                <a:ext uri="{FF2B5EF4-FFF2-40B4-BE49-F238E27FC236}">
                  <a16:creationId xmlns:a16="http://schemas.microsoft.com/office/drawing/2014/main" id="{D3ECDA12-9A2A-D60C-AD51-2E737B73131D}"/>
                </a:ext>
              </a:extLst>
            </p:cNvPr>
            <p:cNvSpPr/>
            <p:nvPr/>
          </p:nvSpPr>
          <p:spPr>
            <a:xfrm>
              <a:off x="3530425" y="2520768"/>
              <a:ext cx="1664411" cy="1493134"/>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 name="CasellaDiTesto 36">
              <a:extLst>
                <a:ext uri="{FF2B5EF4-FFF2-40B4-BE49-F238E27FC236}">
                  <a16:creationId xmlns:a16="http://schemas.microsoft.com/office/drawing/2014/main" id="{B3216806-A294-0425-02D7-C3426F1D310A}"/>
                </a:ext>
              </a:extLst>
            </p:cNvPr>
            <p:cNvSpPr txBox="1"/>
            <p:nvPr/>
          </p:nvSpPr>
          <p:spPr>
            <a:xfrm>
              <a:off x="3637420" y="3068829"/>
              <a:ext cx="1418896" cy="369332"/>
            </a:xfrm>
            <a:prstGeom prst="rect">
              <a:avLst/>
            </a:prstGeom>
            <a:grpFill/>
            <a:ln>
              <a:noFill/>
            </a:ln>
          </p:spPr>
          <p:txBody>
            <a:bodyPr wrap="square" rtlCol="0">
              <a:spAutoFit/>
            </a:bodyPr>
            <a:lstStyle/>
            <a:p>
              <a:pPr algn="ctr"/>
              <a:r>
                <a:rPr lang="en-US">
                  <a:solidFill>
                    <a:schemeClr val="bg1"/>
                  </a:solidFill>
                </a:rPr>
                <a:t>Geometry</a:t>
              </a:r>
            </a:p>
          </p:txBody>
        </p:sp>
      </p:grpSp>
      <p:sp>
        <p:nvSpPr>
          <p:cNvPr id="47" name="Freccia destra 18">
            <a:extLst>
              <a:ext uri="{FF2B5EF4-FFF2-40B4-BE49-F238E27FC236}">
                <a16:creationId xmlns:a16="http://schemas.microsoft.com/office/drawing/2014/main" id="{E4F18C9D-7497-DE49-DDA8-CA19419179D2}"/>
              </a:ext>
            </a:extLst>
          </p:cNvPr>
          <p:cNvSpPr/>
          <p:nvPr/>
        </p:nvSpPr>
        <p:spPr>
          <a:xfrm flipV="1">
            <a:off x="4585215" y="1440718"/>
            <a:ext cx="1528614" cy="553488"/>
          </a:xfrm>
          <a:prstGeom prst="rightArrow">
            <a:avLst/>
          </a:prstGeom>
          <a:solidFill>
            <a:srgbClr val="DDC9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asellaDiTesto 48">
            <a:extLst>
              <a:ext uri="{FF2B5EF4-FFF2-40B4-BE49-F238E27FC236}">
                <a16:creationId xmlns:a16="http://schemas.microsoft.com/office/drawing/2014/main" id="{D6774876-2C8B-C654-6916-B82E3740A672}"/>
              </a:ext>
            </a:extLst>
          </p:cNvPr>
          <p:cNvSpPr txBox="1"/>
          <p:nvPr/>
        </p:nvSpPr>
        <p:spPr>
          <a:xfrm>
            <a:off x="6324093" y="1437309"/>
            <a:ext cx="400278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0000"/>
                </a:solidFill>
                <a:ea typeface="Calibri"/>
                <a:cs typeface="Calibri"/>
              </a:rPr>
              <a:t>Anatomical</a:t>
            </a:r>
            <a:r>
              <a:rPr lang="en-US" sz="2000">
                <a:solidFill>
                  <a:srgbClr val="000000"/>
                </a:solidFill>
                <a:ea typeface="Calibri"/>
                <a:cs typeface="Calibri"/>
              </a:rPr>
              <a:t> </a:t>
            </a:r>
            <a:r>
              <a:rPr lang="en-US" sz="2000" b="1">
                <a:solidFill>
                  <a:srgbClr val="000000"/>
                </a:solidFill>
                <a:ea typeface="Calibri"/>
                <a:cs typeface="Calibri"/>
              </a:rPr>
              <a:t>structure</a:t>
            </a:r>
            <a:r>
              <a:rPr lang="en-US" sz="2000">
                <a:solidFill>
                  <a:srgbClr val="000000"/>
                </a:solidFill>
                <a:ea typeface="Calibri"/>
                <a:cs typeface="Calibri"/>
              </a:rPr>
              <a:t>:</a:t>
            </a:r>
          </a:p>
        </p:txBody>
      </p:sp>
      <p:cxnSp>
        <p:nvCxnSpPr>
          <p:cNvPr id="3" name="Connettore 1 2">
            <a:extLst>
              <a:ext uri="{FF2B5EF4-FFF2-40B4-BE49-F238E27FC236}">
                <a16:creationId xmlns:a16="http://schemas.microsoft.com/office/drawing/2014/main" id="{11F270B1-1E5F-B765-2C56-D295DF35B2DB}"/>
              </a:ext>
            </a:extLst>
          </p:cNvPr>
          <p:cNvCxnSpPr>
            <a:cxnSpLocks/>
          </p:cNvCxnSpPr>
          <p:nvPr/>
        </p:nvCxnSpPr>
        <p:spPr>
          <a:xfrm>
            <a:off x="5854393" y="2352493"/>
            <a:ext cx="0" cy="3095722"/>
          </a:xfrm>
          <a:prstGeom prst="line">
            <a:avLst/>
          </a:prstGeom>
        </p:spPr>
        <p:style>
          <a:lnRef idx="1">
            <a:schemeClr val="accent1"/>
          </a:lnRef>
          <a:fillRef idx="0">
            <a:schemeClr val="accent1"/>
          </a:fillRef>
          <a:effectRef idx="0">
            <a:schemeClr val="accent1"/>
          </a:effectRef>
          <a:fontRef idx="minor">
            <a:schemeClr val="tx1"/>
          </a:fontRef>
        </p:style>
      </p:cxnSp>
      <p:sp>
        <p:nvSpPr>
          <p:cNvPr id="4" name="CasellaDiTesto 3">
            <a:extLst>
              <a:ext uri="{FF2B5EF4-FFF2-40B4-BE49-F238E27FC236}">
                <a16:creationId xmlns:a16="http://schemas.microsoft.com/office/drawing/2014/main" id="{261F1003-6DB6-4E68-08FE-1793154552E9}"/>
              </a:ext>
            </a:extLst>
          </p:cNvPr>
          <p:cNvSpPr txBox="1"/>
          <p:nvPr/>
        </p:nvSpPr>
        <p:spPr>
          <a:xfrm>
            <a:off x="367385" y="823549"/>
            <a:ext cx="1115704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9882AC"/>
                </a:solidFill>
                <a:ea typeface="Calibri"/>
                <a:cs typeface="Calibri"/>
              </a:rPr>
              <a:t>OBJECTIVE</a:t>
            </a:r>
            <a:r>
              <a:rPr lang="en-US" sz="2000">
                <a:ea typeface="Calibri"/>
                <a:cs typeface="Calibri"/>
              </a:rPr>
              <a:t>: regeneration of the damaged structural units, the </a:t>
            </a:r>
            <a:r>
              <a:rPr lang="en-US" sz="2000" b="1">
                <a:solidFill>
                  <a:srgbClr val="5287C9"/>
                </a:solidFill>
                <a:ea typeface="Calibri"/>
                <a:cs typeface="Calibri"/>
              </a:rPr>
              <a:t>LIVER LOBULES</a:t>
            </a:r>
          </a:p>
        </p:txBody>
      </p:sp>
    </p:spTree>
    <p:extLst>
      <p:ext uri="{BB962C8B-B14F-4D97-AF65-F5344CB8AC3E}">
        <p14:creationId xmlns:p14="http://schemas.microsoft.com/office/powerpoint/2010/main" val="2538540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F2939-9A3B-86F3-8417-647A43D856A5}"/>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A606A4B3-9A38-192C-40EB-47B8F92919A8}"/>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MATERIALS</a:t>
            </a:r>
          </a:p>
        </p:txBody>
      </p:sp>
      <p:pic>
        <p:nvPicPr>
          <p:cNvPr id="24" name="Immagine 23" descr="Picture containing screenshot, circle, diagram, Graphics&#10;&#10;Automatically generated description">
            <a:extLst>
              <a:ext uri="{FF2B5EF4-FFF2-40B4-BE49-F238E27FC236}">
                <a16:creationId xmlns:a16="http://schemas.microsoft.com/office/drawing/2014/main" id="{D0893F5B-43E3-429A-148C-7B060B4B17B3}"/>
              </a:ext>
            </a:extLst>
          </p:cNvPr>
          <p:cNvPicPr>
            <a:picLocks noChangeAspect="1"/>
          </p:cNvPicPr>
          <p:nvPr/>
        </p:nvPicPr>
        <p:blipFill>
          <a:blip r:embed="rId2"/>
          <a:stretch>
            <a:fillRect/>
          </a:stretch>
        </p:blipFill>
        <p:spPr>
          <a:xfrm>
            <a:off x="1055443" y="1767240"/>
            <a:ext cx="3783629" cy="3417694"/>
          </a:xfrm>
          <a:prstGeom prst="rect">
            <a:avLst/>
          </a:prstGeom>
        </p:spPr>
      </p:pic>
      <p:sp>
        <p:nvSpPr>
          <p:cNvPr id="12" name="CasellaDiTesto 11">
            <a:extLst>
              <a:ext uri="{FF2B5EF4-FFF2-40B4-BE49-F238E27FC236}">
                <a16:creationId xmlns:a16="http://schemas.microsoft.com/office/drawing/2014/main" id="{7CC60ED3-FC3C-64AB-F4E2-696DCE06DA3A}"/>
              </a:ext>
            </a:extLst>
          </p:cNvPr>
          <p:cNvSpPr txBox="1"/>
          <p:nvPr/>
        </p:nvSpPr>
        <p:spPr>
          <a:xfrm>
            <a:off x="6095264" y="2399008"/>
            <a:ext cx="5404815" cy="2277547"/>
          </a:xfrm>
          <a:prstGeom prst="rect">
            <a:avLst/>
          </a:prstGeom>
          <a:noFill/>
        </p:spPr>
        <p:txBody>
          <a:bodyPr wrap="square" lIns="91440" tIns="45720" rIns="91440" bIns="45720" rtlCol="0" anchor="t">
            <a:spAutoFit/>
          </a:bodyPr>
          <a:lstStyle/>
          <a:p>
            <a:r>
              <a:rPr lang="en-US" sz="3200" b="1">
                <a:solidFill>
                  <a:srgbClr val="D56278"/>
                </a:solidFill>
              </a:rPr>
              <a:t>Alginate </a:t>
            </a:r>
            <a:endParaRPr lang="en-US" sz="3200" b="1">
              <a:ea typeface="Calibri"/>
              <a:cs typeface="Calibri"/>
            </a:endParaRPr>
          </a:p>
          <a:p>
            <a:pPr marL="342900" indent="-342900">
              <a:buFont typeface="Arial"/>
              <a:buChar char="•"/>
            </a:pPr>
            <a:r>
              <a:rPr lang="en-US" sz="2200"/>
              <a:t>Algae-derived</a:t>
            </a:r>
            <a:endParaRPr lang="en-US" sz="2200">
              <a:ea typeface="Calibri"/>
              <a:cs typeface="Calibri"/>
            </a:endParaRPr>
          </a:p>
          <a:p>
            <a:pPr marL="342900" indent="-342900" algn="just">
              <a:buFont typeface="Arial"/>
              <a:buChar char="•"/>
            </a:pPr>
            <a:r>
              <a:rPr lang="en-US" sz="2200"/>
              <a:t>Non-toxic </a:t>
            </a:r>
            <a:endParaRPr lang="en-US" sz="2200">
              <a:ea typeface="Calibri"/>
              <a:cs typeface="Calibri"/>
            </a:endParaRPr>
          </a:p>
          <a:p>
            <a:pPr marL="342900" indent="-342900" algn="just">
              <a:buFont typeface="Arial"/>
              <a:buChar char="•"/>
            </a:pPr>
            <a:r>
              <a:rPr lang="en-US" sz="2200"/>
              <a:t>Non-immunogenic</a:t>
            </a:r>
            <a:endParaRPr lang="en-US" sz="2200">
              <a:ea typeface="Calibri"/>
              <a:cs typeface="Calibri"/>
            </a:endParaRPr>
          </a:p>
          <a:p>
            <a:pPr marL="342900" indent="-342900" algn="just">
              <a:buFont typeface="Arial"/>
              <a:buChar char="•"/>
            </a:pPr>
            <a:r>
              <a:rPr lang="en-US" sz="2200"/>
              <a:t>Biodegradable</a:t>
            </a:r>
            <a:endParaRPr lang="en-US" sz="2200">
              <a:ea typeface="Calibri"/>
              <a:cs typeface="Calibri"/>
            </a:endParaRPr>
          </a:p>
          <a:p>
            <a:pPr marL="342900" indent="-342900" algn="just">
              <a:buFont typeface="Arial"/>
              <a:buChar char="•"/>
            </a:pPr>
            <a:r>
              <a:rPr lang="en-US" sz="2200"/>
              <a:t>Chemically modified with </a:t>
            </a:r>
            <a:r>
              <a:rPr lang="en-US" sz="2200" b="1" err="1">
                <a:solidFill>
                  <a:srgbClr val="D56278"/>
                </a:solidFill>
              </a:rPr>
              <a:t>Norbornene</a:t>
            </a:r>
            <a:endParaRPr lang="en-US" sz="2200" err="1">
              <a:solidFill>
                <a:srgbClr val="D56278"/>
              </a:solidFill>
              <a:ea typeface="Calibri"/>
              <a:cs typeface="Calibri"/>
            </a:endParaRPr>
          </a:p>
        </p:txBody>
      </p:sp>
      <p:sp>
        <p:nvSpPr>
          <p:cNvPr id="4" name="Torta 3">
            <a:extLst>
              <a:ext uri="{FF2B5EF4-FFF2-40B4-BE49-F238E27FC236}">
                <a16:creationId xmlns:a16="http://schemas.microsoft.com/office/drawing/2014/main" id="{2D32644F-5723-E9F8-8898-26F11B50DF66}"/>
              </a:ext>
            </a:extLst>
          </p:cNvPr>
          <p:cNvSpPr/>
          <p:nvPr/>
        </p:nvSpPr>
        <p:spPr>
          <a:xfrm>
            <a:off x="1310182" y="1938814"/>
            <a:ext cx="3303270" cy="3246120"/>
          </a:xfrm>
          <a:prstGeom prst="pie">
            <a:avLst>
              <a:gd name="adj1" fmla="val 7533687"/>
              <a:gd name="adj2" fmla="val 16200000"/>
            </a:avLst>
          </a:prstGeom>
          <a:solidFill>
            <a:schemeClr val="bg1">
              <a:alpha val="49801"/>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22466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CD9AF-74BC-F54D-A203-31C9AE62C214}"/>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EB325DF4-ED42-4C46-3644-C143F91A06A4}"/>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MATERIALS</a:t>
            </a:r>
          </a:p>
        </p:txBody>
      </p:sp>
      <p:pic>
        <p:nvPicPr>
          <p:cNvPr id="24" name="Immagine 23" descr="Picture containing screenshot, circle, diagram, Graphics&#10;&#10;Automatically generated description">
            <a:extLst>
              <a:ext uri="{FF2B5EF4-FFF2-40B4-BE49-F238E27FC236}">
                <a16:creationId xmlns:a16="http://schemas.microsoft.com/office/drawing/2014/main" id="{54E58535-E8D3-2CA9-10D4-0B618535DAFF}"/>
              </a:ext>
            </a:extLst>
          </p:cNvPr>
          <p:cNvPicPr>
            <a:picLocks noChangeAspect="1"/>
          </p:cNvPicPr>
          <p:nvPr/>
        </p:nvPicPr>
        <p:blipFill>
          <a:blip r:embed="rId2"/>
          <a:stretch>
            <a:fillRect/>
          </a:stretch>
        </p:blipFill>
        <p:spPr>
          <a:xfrm>
            <a:off x="1070385" y="1789652"/>
            <a:ext cx="3783629" cy="3417694"/>
          </a:xfrm>
          <a:prstGeom prst="rect">
            <a:avLst/>
          </a:prstGeom>
        </p:spPr>
      </p:pic>
      <p:sp>
        <p:nvSpPr>
          <p:cNvPr id="4" name="Torta 3">
            <a:extLst>
              <a:ext uri="{FF2B5EF4-FFF2-40B4-BE49-F238E27FC236}">
                <a16:creationId xmlns:a16="http://schemas.microsoft.com/office/drawing/2014/main" id="{6490C885-5772-2566-9671-F5EFDEEF8EBE}"/>
              </a:ext>
            </a:extLst>
          </p:cNvPr>
          <p:cNvSpPr/>
          <p:nvPr/>
        </p:nvSpPr>
        <p:spPr>
          <a:xfrm>
            <a:off x="1340066" y="1961226"/>
            <a:ext cx="3303270" cy="3246120"/>
          </a:xfrm>
          <a:prstGeom prst="pie">
            <a:avLst>
              <a:gd name="adj1" fmla="val 14030195"/>
              <a:gd name="adj2" fmla="val 7541404"/>
            </a:avLst>
          </a:prstGeom>
          <a:solidFill>
            <a:schemeClr val="bg1">
              <a:alpha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asellaDiTesto 2">
            <a:extLst>
              <a:ext uri="{FF2B5EF4-FFF2-40B4-BE49-F238E27FC236}">
                <a16:creationId xmlns:a16="http://schemas.microsoft.com/office/drawing/2014/main" id="{F51810BD-E7C6-CDE1-9F68-42CA09F2919F}"/>
              </a:ext>
            </a:extLst>
          </p:cNvPr>
          <p:cNvSpPr txBox="1"/>
          <p:nvPr/>
        </p:nvSpPr>
        <p:spPr>
          <a:xfrm>
            <a:off x="6098086" y="1783097"/>
            <a:ext cx="5253866" cy="2954655"/>
          </a:xfrm>
          <a:prstGeom prst="rect">
            <a:avLst/>
          </a:prstGeom>
          <a:noFill/>
        </p:spPr>
        <p:txBody>
          <a:bodyPr wrap="square" lIns="91440" tIns="45720" rIns="91440" bIns="45720" rtlCol="0" anchor="t">
            <a:spAutoFit/>
          </a:bodyPr>
          <a:lstStyle/>
          <a:p>
            <a:r>
              <a:rPr lang="en-US" sz="3200" b="1">
                <a:solidFill>
                  <a:srgbClr val="D56278"/>
                </a:solidFill>
              </a:rPr>
              <a:t>Gelatin </a:t>
            </a:r>
            <a:endParaRPr lang="en-US" sz="3200" b="1">
              <a:ea typeface="Calibri"/>
              <a:cs typeface="Calibri"/>
            </a:endParaRPr>
          </a:p>
          <a:p>
            <a:pPr marL="342900" indent="-342900">
              <a:buFont typeface="Arial"/>
              <a:buChar char="•"/>
            </a:pPr>
            <a:r>
              <a:rPr lang="en-US" sz="2200"/>
              <a:t>Collagen-derived</a:t>
            </a:r>
            <a:endParaRPr lang="en-US" sz="2200">
              <a:ea typeface="Calibri"/>
              <a:cs typeface="Calibri"/>
            </a:endParaRPr>
          </a:p>
          <a:p>
            <a:pPr marL="342900" indent="-342900" algn="just">
              <a:buFont typeface="Arial"/>
              <a:buChar char="•"/>
            </a:pPr>
            <a:r>
              <a:rPr lang="en-US" sz="2200"/>
              <a:t>Biocompatible</a:t>
            </a:r>
            <a:endParaRPr lang="en-US" sz="2200">
              <a:ea typeface="Calibri"/>
              <a:cs typeface="Calibri"/>
            </a:endParaRPr>
          </a:p>
          <a:p>
            <a:pPr marL="342900" indent="-342900">
              <a:buFont typeface="Arial"/>
              <a:buChar char="•"/>
            </a:pPr>
            <a:r>
              <a:rPr lang="en-US" sz="2200"/>
              <a:t>Non-cytotoxic and low immunogenicity</a:t>
            </a:r>
            <a:endParaRPr lang="en-US" sz="2200">
              <a:ea typeface="Calibri"/>
              <a:cs typeface="Calibri"/>
            </a:endParaRPr>
          </a:p>
          <a:p>
            <a:pPr marL="342900" indent="-342900" algn="just">
              <a:buFont typeface="Arial,Sans-Serif"/>
              <a:buChar char="•"/>
            </a:pPr>
            <a:r>
              <a:rPr lang="en-US" sz="2200">
                <a:ea typeface="Calibri"/>
                <a:cs typeface="Calibri"/>
              </a:rPr>
              <a:t>Improves printing performance</a:t>
            </a:r>
          </a:p>
          <a:p>
            <a:pPr marL="342900" indent="-342900" algn="just">
              <a:buFont typeface="Arial"/>
              <a:buChar char="•"/>
            </a:pPr>
            <a:r>
              <a:rPr lang="en-US" sz="2200">
                <a:ea typeface="Calibri"/>
                <a:cs typeface="Calibri"/>
              </a:rPr>
              <a:t>Excellent workability</a:t>
            </a:r>
          </a:p>
          <a:p>
            <a:pPr marL="342900" indent="-342900" algn="just">
              <a:buFont typeface="Arial"/>
              <a:buChar char="•"/>
            </a:pPr>
            <a:r>
              <a:rPr lang="en-US" sz="2200">
                <a:ea typeface="Calibri"/>
                <a:cs typeface="Calibri"/>
              </a:rPr>
              <a:t>Low cost </a:t>
            </a:r>
          </a:p>
          <a:p>
            <a:pPr marL="342900" indent="-342900" algn="just">
              <a:buFont typeface="Arial"/>
              <a:buChar char="•"/>
            </a:pPr>
            <a:r>
              <a:rPr lang="en-US" sz="2200">
                <a:ea typeface="Calibri"/>
                <a:cs typeface="Calibri"/>
              </a:rPr>
              <a:t>Chemically modified with </a:t>
            </a:r>
            <a:r>
              <a:rPr lang="en-US" sz="2200" b="1" err="1">
                <a:solidFill>
                  <a:srgbClr val="D56278"/>
                </a:solidFill>
                <a:ea typeface="Calibri"/>
                <a:cs typeface="Calibri"/>
              </a:rPr>
              <a:t>Tetrazine</a:t>
            </a:r>
          </a:p>
        </p:txBody>
      </p:sp>
      <p:sp>
        <p:nvSpPr>
          <p:cNvPr id="2" name="CasellaDiTesto 1">
            <a:extLst>
              <a:ext uri="{FF2B5EF4-FFF2-40B4-BE49-F238E27FC236}">
                <a16:creationId xmlns:a16="http://schemas.microsoft.com/office/drawing/2014/main" id="{CA728765-038C-2A2A-344E-211878716263}"/>
              </a:ext>
            </a:extLst>
          </p:cNvPr>
          <p:cNvSpPr txBox="1"/>
          <p:nvPr/>
        </p:nvSpPr>
        <p:spPr>
          <a:xfrm>
            <a:off x="1003068" y="5533063"/>
            <a:ext cx="19596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err="1">
                <a:ea typeface="Calibri"/>
                <a:cs typeface="Calibri"/>
              </a:rPr>
              <a:t>Gel_Tz</a:t>
            </a:r>
            <a:r>
              <a:rPr lang="en-US" sz="2000" b="1">
                <a:ea typeface="Calibri"/>
                <a:cs typeface="Calibri"/>
              </a:rPr>
              <a:t> + </a:t>
            </a:r>
            <a:r>
              <a:rPr lang="en-US" sz="2000" b="1" err="1">
                <a:ea typeface="Calibri"/>
                <a:cs typeface="Calibri"/>
              </a:rPr>
              <a:t>Alg_Nb</a:t>
            </a:r>
            <a:r>
              <a:rPr lang="en-US" sz="2000" b="1">
                <a:ea typeface="Calibri"/>
                <a:cs typeface="Calibri"/>
              </a:rPr>
              <a:t> </a:t>
            </a:r>
          </a:p>
        </p:txBody>
      </p:sp>
      <p:sp>
        <p:nvSpPr>
          <p:cNvPr id="5" name="CasellaDiTesto 4">
            <a:extLst>
              <a:ext uri="{FF2B5EF4-FFF2-40B4-BE49-F238E27FC236}">
                <a16:creationId xmlns:a16="http://schemas.microsoft.com/office/drawing/2014/main" id="{5D7FF0B3-00FA-F95A-94EF-65BD4833742C}"/>
              </a:ext>
            </a:extLst>
          </p:cNvPr>
          <p:cNvSpPr txBox="1"/>
          <p:nvPr/>
        </p:nvSpPr>
        <p:spPr>
          <a:xfrm>
            <a:off x="3979654" y="5540525"/>
            <a:ext cx="40999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D56278"/>
                </a:solidFill>
                <a:ea typeface="Calibri"/>
                <a:cs typeface="Calibri"/>
              </a:rPr>
              <a:t>BIO-ORTHOGONAL CLICK REACTION</a:t>
            </a:r>
            <a:r>
              <a:rPr lang="en-US" sz="2000">
                <a:solidFill>
                  <a:srgbClr val="D56278"/>
                </a:solidFill>
                <a:ea typeface="Calibri"/>
                <a:cs typeface="Calibri"/>
              </a:rPr>
              <a:t> </a:t>
            </a:r>
          </a:p>
        </p:txBody>
      </p:sp>
      <p:sp>
        <p:nvSpPr>
          <p:cNvPr id="6" name="CasellaDiTesto 5">
            <a:extLst>
              <a:ext uri="{FF2B5EF4-FFF2-40B4-BE49-F238E27FC236}">
                <a16:creationId xmlns:a16="http://schemas.microsoft.com/office/drawing/2014/main" id="{9A2BB9F7-CE25-AF4E-C842-C3895C16AC6F}"/>
              </a:ext>
            </a:extLst>
          </p:cNvPr>
          <p:cNvSpPr txBox="1"/>
          <p:nvPr/>
        </p:nvSpPr>
        <p:spPr>
          <a:xfrm>
            <a:off x="8938148" y="5554012"/>
            <a:ext cx="306608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Calibri"/>
                <a:cs typeface="Calibri"/>
              </a:rPr>
              <a:t>SCAFFOLD CROSSLINKING</a:t>
            </a:r>
          </a:p>
        </p:txBody>
      </p:sp>
      <p:sp>
        <p:nvSpPr>
          <p:cNvPr id="7" name="Freccia a destra 6">
            <a:extLst>
              <a:ext uri="{FF2B5EF4-FFF2-40B4-BE49-F238E27FC236}">
                <a16:creationId xmlns:a16="http://schemas.microsoft.com/office/drawing/2014/main" id="{7F050C47-87BC-600C-356B-57FD9076F0B7}"/>
              </a:ext>
            </a:extLst>
          </p:cNvPr>
          <p:cNvSpPr/>
          <p:nvPr/>
        </p:nvSpPr>
        <p:spPr>
          <a:xfrm>
            <a:off x="3169599" y="5667210"/>
            <a:ext cx="599704" cy="1379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ccia a destra 7">
            <a:extLst>
              <a:ext uri="{FF2B5EF4-FFF2-40B4-BE49-F238E27FC236}">
                <a16:creationId xmlns:a16="http://schemas.microsoft.com/office/drawing/2014/main" id="{470925D2-261B-95CA-D987-543925F71028}"/>
              </a:ext>
            </a:extLst>
          </p:cNvPr>
          <p:cNvSpPr/>
          <p:nvPr/>
        </p:nvSpPr>
        <p:spPr>
          <a:xfrm>
            <a:off x="8125970" y="5667209"/>
            <a:ext cx="599704" cy="164918"/>
          </a:xfrm>
          <a:prstGeom prst="rightArrow">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3912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5FF66-EA60-4019-8D9F-DB8752E2ED22}"/>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15FC9FF5-353D-DE01-B196-10529024118B}"/>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MATERIALS</a:t>
            </a:r>
          </a:p>
        </p:txBody>
      </p:sp>
      <p:pic>
        <p:nvPicPr>
          <p:cNvPr id="24" name="Immagine 23" descr="Picture containing screenshot, circle, diagram, Graphics&#10;&#10;Automatically generated description">
            <a:extLst>
              <a:ext uri="{FF2B5EF4-FFF2-40B4-BE49-F238E27FC236}">
                <a16:creationId xmlns:a16="http://schemas.microsoft.com/office/drawing/2014/main" id="{7C37A70D-B0E7-8DC3-0349-087D34F52BAE}"/>
              </a:ext>
            </a:extLst>
          </p:cNvPr>
          <p:cNvPicPr>
            <a:picLocks noChangeAspect="1"/>
          </p:cNvPicPr>
          <p:nvPr/>
        </p:nvPicPr>
        <p:blipFill>
          <a:blip r:embed="rId2"/>
          <a:stretch>
            <a:fillRect/>
          </a:stretch>
        </p:blipFill>
        <p:spPr>
          <a:xfrm>
            <a:off x="1085326" y="1782180"/>
            <a:ext cx="3783629" cy="3417694"/>
          </a:xfrm>
          <a:prstGeom prst="rect">
            <a:avLst/>
          </a:prstGeom>
        </p:spPr>
      </p:pic>
      <p:sp>
        <p:nvSpPr>
          <p:cNvPr id="4" name="Torta 3">
            <a:extLst>
              <a:ext uri="{FF2B5EF4-FFF2-40B4-BE49-F238E27FC236}">
                <a16:creationId xmlns:a16="http://schemas.microsoft.com/office/drawing/2014/main" id="{963EFF1F-9127-D8F3-0EF4-273E7DF736F1}"/>
              </a:ext>
            </a:extLst>
          </p:cNvPr>
          <p:cNvSpPr/>
          <p:nvPr/>
        </p:nvSpPr>
        <p:spPr>
          <a:xfrm>
            <a:off x="1355006" y="1953754"/>
            <a:ext cx="3303270" cy="3246120"/>
          </a:xfrm>
          <a:prstGeom prst="pie">
            <a:avLst>
              <a:gd name="adj1" fmla="val 16218907"/>
              <a:gd name="adj2" fmla="val 14025929"/>
            </a:avLst>
          </a:prstGeom>
          <a:solidFill>
            <a:schemeClr val="bg1">
              <a:alpha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CasellaDiTesto 1">
            <a:extLst>
              <a:ext uri="{FF2B5EF4-FFF2-40B4-BE49-F238E27FC236}">
                <a16:creationId xmlns:a16="http://schemas.microsoft.com/office/drawing/2014/main" id="{BD44CB4F-FF25-1508-9ECB-9536996F344C}"/>
              </a:ext>
            </a:extLst>
          </p:cNvPr>
          <p:cNvSpPr txBox="1"/>
          <p:nvPr/>
        </p:nvSpPr>
        <p:spPr>
          <a:xfrm>
            <a:off x="6094009" y="1767257"/>
            <a:ext cx="5676175" cy="3631763"/>
          </a:xfrm>
          <a:prstGeom prst="rect">
            <a:avLst/>
          </a:prstGeom>
          <a:noFill/>
        </p:spPr>
        <p:txBody>
          <a:bodyPr wrap="square" lIns="91440" tIns="45720" rIns="91440" bIns="45720" rtlCol="0" anchor="t">
            <a:spAutoFit/>
          </a:bodyPr>
          <a:lstStyle/>
          <a:p>
            <a:r>
              <a:rPr lang="en-US" sz="3200" b="1" err="1">
                <a:solidFill>
                  <a:srgbClr val="D56278"/>
                </a:solidFill>
              </a:rPr>
              <a:t>Soy</a:t>
            </a:r>
            <a:r>
              <a:rPr lang="en-US" sz="3200" b="1">
                <a:solidFill>
                  <a:srgbClr val="D56278"/>
                </a:solidFill>
              </a:rPr>
              <a:t> peptide </a:t>
            </a:r>
            <a:r>
              <a:rPr lang="en-US" sz="3200" b="1" err="1">
                <a:solidFill>
                  <a:srgbClr val="D56278"/>
                </a:solidFill>
              </a:rPr>
              <a:t>powder</a:t>
            </a:r>
            <a:r>
              <a:rPr lang="en-US" sz="3200" b="1">
                <a:solidFill>
                  <a:srgbClr val="D56278"/>
                </a:solidFill>
              </a:rPr>
              <a:t> SPP</a:t>
            </a:r>
          </a:p>
          <a:p>
            <a:pPr marL="342900" indent="-342900">
              <a:buFont typeface="Arial"/>
              <a:buChar char="•"/>
            </a:pPr>
            <a:r>
              <a:rPr lang="en-US" sz="2200"/>
              <a:t>Product of SP proteolysis</a:t>
            </a:r>
          </a:p>
          <a:p>
            <a:pPr marL="342900" indent="-342900">
              <a:buFont typeface="Arial"/>
              <a:buChar char="•"/>
            </a:pPr>
            <a:r>
              <a:rPr lang="en-US" sz="2200"/>
              <a:t>Excellent biocompatibility and </a:t>
            </a:r>
            <a:r>
              <a:rPr lang="en-US" sz="2200" err="1"/>
              <a:t>cytocompatibility</a:t>
            </a:r>
            <a:endParaRPr lang="en-US" sz="2200">
              <a:ea typeface="Calibri"/>
              <a:cs typeface="Calibri"/>
            </a:endParaRPr>
          </a:p>
          <a:p>
            <a:pPr marL="342900" indent="-342900">
              <a:buFont typeface="Arial"/>
              <a:buChar char="•"/>
            </a:pPr>
            <a:r>
              <a:rPr lang="en-US" sz="2200">
                <a:solidFill>
                  <a:srgbClr val="000000"/>
                </a:solidFill>
                <a:ea typeface="Calibri"/>
                <a:cs typeface="Calibri"/>
              </a:rPr>
              <a:t>Improved </a:t>
            </a:r>
            <a:r>
              <a:rPr lang="en-US" sz="2200" err="1">
                <a:solidFill>
                  <a:srgbClr val="000000"/>
                </a:solidFill>
                <a:ea typeface="Calibri"/>
                <a:cs typeface="Calibri"/>
              </a:rPr>
              <a:t>printability</a:t>
            </a:r>
            <a:r>
              <a:rPr lang="en-US" sz="2200">
                <a:solidFill>
                  <a:srgbClr val="000000"/>
                </a:solidFill>
                <a:ea typeface="Calibri"/>
                <a:cs typeface="Calibri"/>
              </a:rPr>
              <a:t> of the </a:t>
            </a:r>
            <a:r>
              <a:rPr lang="en-US" sz="2200" err="1">
                <a:solidFill>
                  <a:srgbClr val="000000"/>
                </a:solidFill>
                <a:ea typeface="Calibri"/>
                <a:cs typeface="Calibri"/>
              </a:rPr>
              <a:t>bioink</a:t>
            </a:r>
            <a:endParaRPr lang="en-US" sz="2200">
              <a:solidFill>
                <a:srgbClr val="000000"/>
              </a:solidFill>
              <a:ea typeface="Calibri"/>
              <a:cs typeface="Calibri"/>
            </a:endParaRPr>
          </a:p>
          <a:p>
            <a:pPr marL="342900" indent="-342900">
              <a:buFont typeface="Arial"/>
              <a:buChar char="•"/>
            </a:pPr>
            <a:r>
              <a:rPr lang="en-US" sz="2200">
                <a:solidFill>
                  <a:srgbClr val="000000"/>
                </a:solidFill>
                <a:ea typeface="Calibri"/>
                <a:cs typeface="Calibri"/>
              </a:rPr>
              <a:t>Promotes cell adhesion and proliferation</a:t>
            </a:r>
          </a:p>
          <a:p>
            <a:pPr marL="342900" indent="-342900">
              <a:buFont typeface="Arial"/>
              <a:buChar char="•"/>
            </a:pPr>
            <a:r>
              <a:rPr lang="en-US" sz="2200">
                <a:solidFill>
                  <a:srgbClr val="000000"/>
                </a:solidFill>
                <a:ea typeface="Calibri"/>
                <a:cs typeface="Calibri"/>
              </a:rPr>
              <a:t>Promotes angiogenesis</a:t>
            </a:r>
          </a:p>
          <a:p>
            <a:pPr marL="342900" indent="-342900">
              <a:buFont typeface="Arial"/>
              <a:buChar char="•"/>
            </a:pPr>
            <a:endParaRPr lang="en-US" sz="2200">
              <a:solidFill>
                <a:srgbClr val="000000"/>
              </a:solidFill>
              <a:ea typeface="Calibri"/>
              <a:cs typeface="Calibri"/>
            </a:endParaRPr>
          </a:p>
          <a:p>
            <a:pPr marL="285750" indent="-285750">
              <a:buFont typeface="Arial"/>
              <a:buChar char="•"/>
            </a:pPr>
            <a:endParaRPr lang="en-US" sz="2200">
              <a:solidFill>
                <a:srgbClr val="C00000"/>
              </a:solidFill>
              <a:ea typeface="Calibri"/>
              <a:cs typeface="Calibri"/>
            </a:endParaRPr>
          </a:p>
        </p:txBody>
      </p:sp>
      <p:sp>
        <p:nvSpPr>
          <p:cNvPr id="3" name="CasellaDiTesto 2">
            <a:extLst>
              <a:ext uri="{FF2B5EF4-FFF2-40B4-BE49-F238E27FC236}">
                <a16:creationId xmlns:a16="http://schemas.microsoft.com/office/drawing/2014/main" id="{0C770A95-0E4E-98DD-A896-8417E6C58B11}"/>
              </a:ext>
            </a:extLst>
          </p:cNvPr>
          <p:cNvSpPr txBox="1"/>
          <p:nvPr/>
        </p:nvSpPr>
        <p:spPr>
          <a:xfrm>
            <a:off x="2612151" y="5670966"/>
            <a:ext cx="696212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The </a:t>
            </a:r>
            <a:r>
              <a:rPr lang="en-US" sz="2000" b="1">
                <a:solidFill>
                  <a:srgbClr val="D56278"/>
                </a:solidFill>
                <a:ea typeface="Calibri"/>
                <a:cs typeface="Calibri"/>
              </a:rPr>
              <a:t>BIOINK </a:t>
            </a:r>
            <a:r>
              <a:rPr lang="en-US" sz="2000">
                <a:ea typeface="Calibri"/>
                <a:cs typeface="Calibri"/>
              </a:rPr>
              <a:t>was made with </a:t>
            </a:r>
            <a:r>
              <a:rPr lang="en-US" sz="2000" b="1">
                <a:solidFill>
                  <a:srgbClr val="D56278"/>
                </a:solidFill>
                <a:ea typeface="Calibri"/>
                <a:cs typeface="Calibri"/>
              </a:rPr>
              <a:t>cells </a:t>
            </a:r>
            <a:r>
              <a:rPr lang="en-US" sz="2000">
                <a:ea typeface="Calibri"/>
                <a:cs typeface="Calibri"/>
              </a:rPr>
              <a:t>of the endothelial line </a:t>
            </a:r>
            <a:r>
              <a:rPr lang="en-US" sz="2000" b="1">
                <a:solidFill>
                  <a:srgbClr val="D56278"/>
                </a:solidFill>
                <a:ea typeface="Calibri"/>
                <a:cs typeface="Calibri"/>
              </a:rPr>
              <a:t>HUVEC </a:t>
            </a:r>
          </a:p>
        </p:txBody>
      </p:sp>
    </p:spTree>
    <p:extLst>
      <p:ext uri="{BB962C8B-B14F-4D97-AF65-F5344CB8AC3E}">
        <p14:creationId xmlns:p14="http://schemas.microsoft.com/office/powerpoint/2010/main" val="283232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82FFA-065A-8AA0-BC04-D4BCE70A8E1A}"/>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854148F3-ECC1-2C9D-8F06-DE356E632C89}"/>
              </a:ext>
            </a:extLst>
          </p:cNvPr>
          <p:cNvSpPr txBox="1"/>
          <p:nvPr/>
        </p:nvSpPr>
        <p:spPr>
          <a:xfrm>
            <a:off x="368440" y="17609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FABRICATION METHOD</a:t>
            </a:r>
          </a:p>
        </p:txBody>
      </p:sp>
      <p:sp>
        <p:nvSpPr>
          <p:cNvPr id="11" name="TextBox 13">
            <a:extLst>
              <a:ext uri="{FF2B5EF4-FFF2-40B4-BE49-F238E27FC236}">
                <a16:creationId xmlns:a16="http://schemas.microsoft.com/office/drawing/2014/main" id="{134A5017-98F5-8EB3-16BC-1D079C28F6FF}"/>
              </a:ext>
            </a:extLst>
          </p:cNvPr>
          <p:cNvSpPr txBox="1"/>
          <p:nvPr/>
        </p:nvSpPr>
        <p:spPr>
          <a:xfrm>
            <a:off x="3834531" y="4949056"/>
            <a:ext cx="119776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FFFFFF"/>
                </a:solidFill>
                <a:latin typeface="Bangla MN" pitchFamily="2" charset="0"/>
                <a:cs typeface="Bangla MN" pitchFamily="2" charset="0"/>
              </a:rPr>
              <a:t>AMBIENT</a:t>
            </a:r>
          </a:p>
        </p:txBody>
      </p:sp>
      <p:pic>
        <p:nvPicPr>
          <p:cNvPr id="4" name="Immagine 3" descr="Picture containing circle&#10;&#10;Automatically generated description">
            <a:extLst>
              <a:ext uri="{FF2B5EF4-FFF2-40B4-BE49-F238E27FC236}">
                <a16:creationId xmlns:a16="http://schemas.microsoft.com/office/drawing/2014/main" id="{A06A82EF-4A68-DE85-5EFD-BDBDFCFC0E23}"/>
              </a:ext>
            </a:extLst>
          </p:cNvPr>
          <p:cNvPicPr>
            <a:picLocks noChangeAspect="1"/>
          </p:cNvPicPr>
          <p:nvPr/>
        </p:nvPicPr>
        <p:blipFill>
          <a:blip r:embed="rId2"/>
          <a:srcRect t="3659" b="18339"/>
          <a:stretch/>
        </p:blipFill>
        <p:spPr>
          <a:xfrm>
            <a:off x="139166" y="1476839"/>
            <a:ext cx="5253864" cy="5299588"/>
          </a:xfrm>
          <a:prstGeom prst="rect">
            <a:avLst/>
          </a:prstGeom>
        </p:spPr>
      </p:pic>
      <p:sp>
        <p:nvSpPr>
          <p:cNvPr id="2" name="CasellaDiTesto 1">
            <a:extLst>
              <a:ext uri="{FF2B5EF4-FFF2-40B4-BE49-F238E27FC236}">
                <a16:creationId xmlns:a16="http://schemas.microsoft.com/office/drawing/2014/main" id="{6F2C4AB4-585A-BA9A-8C5A-FC88B6956477}"/>
              </a:ext>
            </a:extLst>
          </p:cNvPr>
          <p:cNvSpPr txBox="1"/>
          <p:nvPr/>
        </p:nvSpPr>
        <p:spPr>
          <a:xfrm>
            <a:off x="1921609" y="1280513"/>
            <a:ext cx="1741747" cy="307777"/>
          </a:xfrm>
          <a:prstGeom prst="rect">
            <a:avLst/>
          </a:prstGeom>
          <a:noFill/>
        </p:spPr>
        <p:txBody>
          <a:bodyPr wrap="square" lIns="91440" tIns="45720" rIns="91440" bIns="45720" rtlCol="0" anchor="t">
            <a:spAutoFit/>
          </a:bodyPr>
          <a:lstStyle/>
          <a:p>
            <a:r>
              <a:rPr lang="en-US" sz="1400" b="0" i="0" err="1">
                <a:solidFill>
                  <a:srgbClr val="000000"/>
                </a:solidFill>
                <a:effectLst/>
                <a:latin typeface="Aptos"/>
              </a:rPr>
              <a:t>Gel_Tz</a:t>
            </a:r>
            <a:r>
              <a:rPr lang="en-US" sz="1400" b="0" i="0">
                <a:solidFill>
                  <a:srgbClr val="000000"/>
                </a:solidFill>
                <a:effectLst/>
                <a:latin typeface="Aptos"/>
              </a:rPr>
              <a:t> + SPP</a:t>
            </a:r>
            <a:r>
              <a:rPr lang="en-US" sz="1400">
                <a:solidFill>
                  <a:srgbClr val="000000"/>
                </a:solidFill>
                <a:latin typeface="Aptos"/>
              </a:rPr>
              <a:t>+ </a:t>
            </a:r>
            <a:r>
              <a:rPr lang="en-US" sz="1400" err="1">
                <a:solidFill>
                  <a:srgbClr val="000000"/>
                </a:solidFill>
                <a:latin typeface="Aptos"/>
              </a:rPr>
              <a:t>cells</a:t>
            </a:r>
            <a:endParaRPr lang="en-US" sz="1400">
              <a:ea typeface="Calibri"/>
              <a:cs typeface="Calibri"/>
            </a:endParaRPr>
          </a:p>
        </p:txBody>
      </p:sp>
      <p:sp>
        <p:nvSpPr>
          <p:cNvPr id="6" name="CasellaDiTesto 5">
            <a:extLst>
              <a:ext uri="{FF2B5EF4-FFF2-40B4-BE49-F238E27FC236}">
                <a16:creationId xmlns:a16="http://schemas.microsoft.com/office/drawing/2014/main" id="{29A97F42-3708-619E-3117-78CE37769BF7}"/>
              </a:ext>
            </a:extLst>
          </p:cNvPr>
          <p:cNvSpPr txBox="1"/>
          <p:nvPr/>
        </p:nvSpPr>
        <p:spPr>
          <a:xfrm>
            <a:off x="100545" y="1127843"/>
            <a:ext cx="1761307" cy="307777"/>
          </a:xfrm>
          <a:prstGeom prst="rect">
            <a:avLst/>
          </a:prstGeom>
          <a:noFill/>
        </p:spPr>
        <p:txBody>
          <a:bodyPr wrap="square" lIns="91440" tIns="45720" rIns="91440" bIns="45720" anchor="t">
            <a:spAutoFit/>
          </a:bodyPr>
          <a:lstStyle/>
          <a:p>
            <a:pPr algn="ctr"/>
            <a:r>
              <a:rPr lang="en-US" sz="1400" b="0" i="0" err="1">
                <a:effectLst/>
                <a:latin typeface="Aptos"/>
              </a:rPr>
              <a:t>Alg_Nb</a:t>
            </a:r>
            <a:r>
              <a:rPr lang="en-US" sz="1400" b="0" i="0">
                <a:effectLst/>
                <a:latin typeface="Aptos"/>
              </a:rPr>
              <a:t> </a:t>
            </a:r>
            <a:r>
              <a:rPr lang="en-US" sz="1400" b="0" i="0">
                <a:solidFill>
                  <a:srgbClr val="000000"/>
                </a:solidFill>
                <a:effectLst/>
                <a:latin typeface="Aptos"/>
              </a:rPr>
              <a:t>+ SPP</a:t>
            </a:r>
            <a:r>
              <a:rPr lang="en-US" sz="1400">
                <a:solidFill>
                  <a:srgbClr val="000000"/>
                </a:solidFill>
                <a:latin typeface="Aptos"/>
              </a:rPr>
              <a:t> + </a:t>
            </a:r>
            <a:r>
              <a:rPr lang="en-US" sz="1400" err="1">
                <a:solidFill>
                  <a:srgbClr val="000000"/>
                </a:solidFill>
                <a:latin typeface="Aptos"/>
              </a:rPr>
              <a:t>cells</a:t>
            </a:r>
            <a:endParaRPr lang="en-US" sz="1400" err="1">
              <a:ea typeface="Calibri" panose="020F0502020204030204"/>
              <a:cs typeface="Calibri" panose="020F0502020204030204"/>
            </a:endParaRPr>
          </a:p>
        </p:txBody>
      </p:sp>
      <p:sp>
        <p:nvSpPr>
          <p:cNvPr id="7" name="CasellaDiTesto 6">
            <a:extLst>
              <a:ext uri="{FF2B5EF4-FFF2-40B4-BE49-F238E27FC236}">
                <a16:creationId xmlns:a16="http://schemas.microsoft.com/office/drawing/2014/main" id="{F88BC412-CD74-B87A-B93C-1E1EAA1558A8}"/>
              </a:ext>
            </a:extLst>
          </p:cNvPr>
          <p:cNvSpPr txBox="1"/>
          <p:nvPr/>
        </p:nvSpPr>
        <p:spPr>
          <a:xfrm>
            <a:off x="2437287" y="2880701"/>
            <a:ext cx="1625165" cy="338554"/>
          </a:xfrm>
          <a:prstGeom prst="rect">
            <a:avLst/>
          </a:prstGeom>
          <a:noFill/>
        </p:spPr>
        <p:txBody>
          <a:bodyPr wrap="square" lIns="91440" tIns="45720" rIns="91440" bIns="45720" rtlCol="0" anchor="t">
            <a:spAutoFit/>
          </a:bodyPr>
          <a:lstStyle/>
          <a:p>
            <a:r>
              <a:rPr lang="en-US" sz="1600">
                <a:solidFill>
                  <a:srgbClr val="000000"/>
                </a:solidFill>
                <a:latin typeface="Aptos"/>
              </a:rPr>
              <a:t>PEG 600-1000</a:t>
            </a:r>
            <a:endParaRPr lang="en-US" sz="1600"/>
          </a:p>
        </p:txBody>
      </p:sp>
      <p:sp>
        <p:nvSpPr>
          <p:cNvPr id="8" name="CasellaDiTesto 7">
            <a:extLst>
              <a:ext uri="{FF2B5EF4-FFF2-40B4-BE49-F238E27FC236}">
                <a16:creationId xmlns:a16="http://schemas.microsoft.com/office/drawing/2014/main" id="{6B712209-FAC7-F2E2-E1B5-4F1461DC509C}"/>
              </a:ext>
            </a:extLst>
          </p:cNvPr>
          <p:cNvSpPr txBox="1"/>
          <p:nvPr/>
        </p:nvSpPr>
        <p:spPr>
          <a:xfrm>
            <a:off x="367205" y="5499857"/>
            <a:ext cx="1222829" cy="350746"/>
          </a:xfrm>
          <a:prstGeom prst="rect">
            <a:avLst/>
          </a:prstGeom>
          <a:noFill/>
        </p:spPr>
        <p:txBody>
          <a:bodyPr wrap="square" lIns="91440" tIns="45720" rIns="91440" bIns="45720" rtlCol="0" anchor="t">
            <a:spAutoFit/>
          </a:bodyPr>
          <a:lstStyle/>
          <a:p>
            <a:r>
              <a:rPr lang="en-US" sz="1600">
                <a:latin typeface="Aptos"/>
              </a:rPr>
              <a:t>SCAFFOLD</a:t>
            </a:r>
          </a:p>
        </p:txBody>
      </p:sp>
      <p:graphicFrame>
        <p:nvGraphicFramePr>
          <p:cNvPr id="14" name="Tabella 13">
            <a:extLst>
              <a:ext uri="{FF2B5EF4-FFF2-40B4-BE49-F238E27FC236}">
                <a16:creationId xmlns:a16="http://schemas.microsoft.com/office/drawing/2014/main" id="{1A906B22-0862-05BA-5DBD-C7DDFC361F8F}"/>
              </a:ext>
            </a:extLst>
          </p:cNvPr>
          <p:cNvGraphicFramePr>
            <a:graphicFrameLocks noGrp="1"/>
          </p:cNvGraphicFramePr>
          <p:nvPr>
            <p:extLst>
              <p:ext uri="{D42A27DB-BD31-4B8C-83A1-F6EECF244321}">
                <p14:modId xmlns:p14="http://schemas.microsoft.com/office/powerpoint/2010/main" val="1885076337"/>
              </p:ext>
            </p:extLst>
          </p:nvPr>
        </p:nvGraphicFramePr>
        <p:xfrm>
          <a:off x="4828247" y="869892"/>
          <a:ext cx="7117788" cy="3432782"/>
        </p:xfrm>
        <a:graphic>
          <a:graphicData uri="http://schemas.openxmlformats.org/drawingml/2006/table">
            <a:tbl>
              <a:tblPr firstRow="1" bandRow="1">
                <a:tableStyleId>{5940675A-B579-460E-94D1-54222C63F5DA}</a:tableStyleId>
              </a:tblPr>
              <a:tblGrid>
                <a:gridCol w="3558894">
                  <a:extLst>
                    <a:ext uri="{9D8B030D-6E8A-4147-A177-3AD203B41FA5}">
                      <a16:colId xmlns:a16="http://schemas.microsoft.com/office/drawing/2014/main" val="764845140"/>
                    </a:ext>
                  </a:extLst>
                </a:gridCol>
                <a:gridCol w="3558894">
                  <a:extLst>
                    <a:ext uri="{9D8B030D-6E8A-4147-A177-3AD203B41FA5}">
                      <a16:colId xmlns:a16="http://schemas.microsoft.com/office/drawing/2014/main" val="2075600745"/>
                    </a:ext>
                  </a:extLst>
                </a:gridCol>
              </a:tblGrid>
              <a:tr h="6281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a:t>Materials: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700"/>
                        <a:t>Bioink of Alg_Nb + Gel_Tz + SPP+ cells, PEG 600-1000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23759168"/>
                  </a:ext>
                </a:extLst>
              </a:tr>
              <a:tr h="3505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a:t>Printing technique: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a:t>Piston-driven extrusion-based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85447530"/>
                  </a:ext>
                </a:extLst>
              </a:tr>
              <a:tr h="3505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a:t>Shape of the structural unit: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a:t>Hexagon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17884360"/>
                  </a:ext>
                </a:extLst>
              </a:tr>
              <a:tr h="350582">
                <a:tc>
                  <a:txBody>
                    <a:bodyPr/>
                    <a:lstStyle/>
                    <a:p>
                      <a:pPr marL="0" marR="0" lvl="0" indent="0" algn="l" rtl="0" eaLnBrk="1" fontAlgn="auto" latinLnBrk="0" hangingPunct="1">
                        <a:lnSpc>
                          <a:spcPct val="100000"/>
                        </a:lnSpc>
                        <a:spcBef>
                          <a:spcPts val="0"/>
                        </a:spcBef>
                        <a:spcAft>
                          <a:spcPts val="0"/>
                        </a:spcAft>
                        <a:buClrTx/>
                        <a:buSzTx/>
                        <a:buFontTx/>
                        <a:buNone/>
                      </a:pPr>
                      <a:r>
                        <a:rPr lang="en-US" sz="1700" b="1" i="0" u="none" strike="noStrike" noProof="0">
                          <a:latin typeface="+mn-lt"/>
                        </a:rPr>
                        <a:t>Ø</a:t>
                      </a:r>
                      <a:r>
                        <a:rPr lang="en-US" sz="1700" b="1" i="0" u="none" strike="noStrike" noProof="0">
                          <a:latin typeface="+mn-lt"/>
                        </a:rPr>
                        <a:t> </a:t>
                      </a:r>
                      <a:r>
                        <a:rPr lang="en-US" sz="1700" b="0" i="0" u="none" strike="noStrike" noProof="0">
                          <a:latin typeface="+mn-lt"/>
                        </a:rPr>
                        <a:t>of the circumscribed circle:</a:t>
                      </a:r>
                      <a:endParaRPr lang="en-US" sz="17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700"/>
                        <a:t>2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84234490"/>
                  </a:ext>
                </a:extLst>
              </a:tr>
              <a:tr h="350582">
                <a:tc>
                  <a:txBody>
                    <a:bodyPr/>
                    <a:lstStyle/>
                    <a:p>
                      <a:pPr marL="0" marR="0" lvl="0" indent="0" algn="l" rtl="0" eaLnBrk="1" fontAlgn="auto" latinLnBrk="0" hangingPunct="1">
                        <a:lnSpc>
                          <a:spcPct val="100000"/>
                        </a:lnSpc>
                        <a:spcBef>
                          <a:spcPts val="0"/>
                        </a:spcBef>
                        <a:spcAft>
                          <a:spcPts val="0"/>
                        </a:spcAft>
                        <a:buClrTx/>
                        <a:buSzTx/>
                        <a:buFontTx/>
                        <a:buNone/>
                      </a:pPr>
                      <a:r>
                        <a:rPr lang="en-US" sz="1700" b="0"/>
                        <a:t>Unit height: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a:t>1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3615414"/>
                  </a:ext>
                </a:extLst>
              </a:tr>
              <a:tr h="350582">
                <a:tc>
                  <a:txBody>
                    <a:bodyPr/>
                    <a:lstStyle/>
                    <a:p>
                      <a:pPr marL="0" marR="0" lvl="0" indent="0" algn="l">
                        <a:lnSpc>
                          <a:spcPct val="100000"/>
                        </a:lnSpc>
                        <a:spcBef>
                          <a:spcPts val="0"/>
                        </a:spcBef>
                        <a:spcAft>
                          <a:spcPts val="0"/>
                        </a:spcAft>
                        <a:buNone/>
                      </a:pPr>
                      <a:r>
                        <a:rPr lang="en-US" sz="1700" b="1" i="0" u="none" strike="noStrike" noProof="0">
                          <a:solidFill>
                            <a:srgbClr val="000000"/>
                          </a:solidFill>
                          <a:latin typeface="Calibri"/>
                        </a:rPr>
                        <a:t>Ø </a:t>
                      </a:r>
                      <a:r>
                        <a:rPr lang="en-US" sz="1700"/>
                        <a:t>of the central channel: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700"/>
                        <a:t>250 </a:t>
                      </a:r>
                      <a:r>
                        <a:rPr lang="el-GR" sz="1700"/>
                        <a:t>μ</a:t>
                      </a:r>
                      <a:r>
                        <a:rPr lang="en-US" sz="1700"/>
                        <a:t>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45278360"/>
                  </a:ext>
                </a:extLst>
              </a:tr>
              <a:tr h="350582">
                <a:tc>
                  <a:txBody>
                    <a:bodyPr/>
                    <a:lstStyle/>
                    <a:p>
                      <a:pPr lvl="0">
                        <a:buNone/>
                      </a:pPr>
                      <a:r>
                        <a:rPr lang="en-US" sz="1700" b="0" i="0" u="none" strike="noStrike" noProof="0">
                          <a:latin typeface="Calibri"/>
                        </a:rPr>
                        <a:t>L of the transverse channels:</a:t>
                      </a:r>
                      <a:endParaRPr lang="en-US" sz="17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a:t>150 </a:t>
                      </a:r>
                      <a:r>
                        <a:rPr lang="el-GR" sz="1700"/>
                        <a:t>μ</a:t>
                      </a:r>
                      <a:r>
                        <a:rPr lang="en-US" sz="1700"/>
                        <a:t>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23828374"/>
                  </a:ext>
                </a:extLst>
              </a:tr>
              <a:tr h="350582">
                <a:tc>
                  <a:txBody>
                    <a:bodyPr/>
                    <a:lstStyle/>
                    <a:p>
                      <a:pPr lvl="0">
                        <a:buNone/>
                      </a:pPr>
                      <a:r>
                        <a:rPr lang="en-US" sz="1700" b="0" i="0" u="none" strike="noStrike" noProof="0">
                          <a:latin typeface="Calibri"/>
                        </a:rPr>
                        <a:t>Height of the transverse channels: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lvl="0" indent="0" algn="l">
                        <a:lnSpc>
                          <a:spcPct val="100000"/>
                        </a:lnSpc>
                        <a:spcBef>
                          <a:spcPts val="0"/>
                        </a:spcBef>
                        <a:spcAft>
                          <a:spcPts val="0"/>
                        </a:spcAft>
                        <a:buNone/>
                      </a:pPr>
                      <a:r>
                        <a:rPr lang="en-US" sz="1700"/>
                        <a:t>0.5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01272841"/>
                  </a:ext>
                </a:extLst>
              </a:tr>
              <a:tr h="350582">
                <a:tc>
                  <a:txBody>
                    <a:bodyPr/>
                    <a:lstStyle/>
                    <a:p>
                      <a:pPr lvl="0">
                        <a:buNone/>
                      </a:pPr>
                      <a:r>
                        <a:rPr lang="en-US" sz="1700" b="0"/>
                        <a:t>Final patch dimensions (L x W x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700"/>
                        <a:t>3.4 cm x 4 cm x 0.5 cm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36806537"/>
                  </a:ext>
                </a:extLst>
              </a:tr>
            </a:tbl>
          </a:graphicData>
        </a:graphic>
      </p:graphicFrame>
      <p:graphicFrame>
        <p:nvGraphicFramePr>
          <p:cNvPr id="15" name="Tabella 14">
            <a:extLst>
              <a:ext uri="{FF2B5EF4-FFF2-40B4-BE49-F238E27FC236}">
                <a16:creationId xmlns:a16="http://schemas.microsoft.com/office/drawing/2014/main" id="{044964DD-FBF1-B957-84A1-E7CDF5839264}"/>
              </a:ext>
            </a:extLst>
          </p:cNvPr>
          <p:cNvGraphicFramePr>
            <a:graphicFrameLocks noGrp="1"/>
          </p:cNvGraphicFramePr>
          <p:nvPr>
            <p:extLst>
              <p:ext uri="{D42A27DB-BD31-4B8C-83A1-F6EECF244321}">
                <p14:modId xmlns:p14="http://schemas.microsoft.com/office/powerpoint/2010/main" val="2655794358"/>
              </p:ext>
            </p:extLst>
          </p:nvPr>
        </p:nvGraphicFramePr>
        <p:xfrm>
          <a:off x="4828247" y="4416902"/>
          <a:ext cx="7117794" cy="719272"/>
        </p:xfrm>
        <a:graphic>
          <a:graphicData uri="http://schemas.openxmlformats.org/drawingml/2006/table">
            <a:tbl>
              <a:tblPr firstRow="1" bandRow="1">
                <a:tableStyleId>{5940675A-B579-460E-94D1-54222C63F5DA}</a:tableStyleId>
              </a:tblPr>
              <a:tblGrid>
                <a:gridCol w="2372598">
                  <a:extLst>
                    <a:ext uri="{9D8B030D-6E8A-4147-A177-3AD203B41FA5}">
                      <a16:colId xmlns:a16="http://schemas.microsoft.com/office/drawing/2014/main" val="1136890780"/>
                    </a:ext>
                  </a:extLst>
                </a:gridCol>
                <a:gridCol w="2372598">
                  <a:extLst>
                    <a:ext uri="{9D8B030D-6E8A-4147-A177-3AD203B41FA5}">
                      <a16:colId xmlns:a16="http://schemas.microsoft.com/office/drawing/2014/main" val="3891029097"/>
                    </a:ext>
                  </a:extLst>
                </a:gridCol>
                <a:gridCol w="2372598">
                  <a:extLst>
                    <a:ext uri="{9D8B030D-6E8A-4147-A177-3AD203B41FA5}">
                      <a16:colId xmlns:a16="http://schemas.microsoft.com/office/drawing/2014/main" val="3290704086"/>
                    </a:ext>
                  </a:extLst>
                </a:gridCol>
              </a:tblGrid>
              <a:tr h="352297">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Melting point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Freezing point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777847"/>
                  </a:ext>
                </a:extLst>
              </a:tr>
              <a:tr h="366975">
                <a:tc>
                  <a:txBody>
                    <a:bodyPr/>
                    <a:lstStyle/>
                    <a:p>
                      <a:r>
                        <a:rPr lang="en-US" sz="1600"/>
                        <a:t>PEG 600 -1000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a:t>34.1°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600"/>
                        <a:t>26.7°±1°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89014945"/>
                  </a:ext>
                </a:extLst>
              </a:tr>
            </a:tbl>
          </a:graphicData>
        </a:graphic>
      </p:graphicFrame>
      <p:graphicFrame>
        <p:nvGraphicFramePr>
          <p:cNvPr id="16" name="Tabella 15">
            <a:extLst>
              <a:ext uri="{FF2B5EF4-FFF2-40B4-BE49-F238E27FC236}">
                <a16:creationId xmlns:a16="http://schemas.microsoft.com/office/drawing/2014/main" id="{D62407D7-5FDD-0A61-042D-C5EAC21FAF1C}"/>
              </a:ext>
            </a:extLst>
          </p:cNvPr>
          <p:cNvGraphicFramePr>
            <a:graphicFrameLocks noGrp="1"/>
          </p:cNvGraphicFramePr>
          <p:nvPr>
            <p:extLst>
              <p:ext uri="{D42A27DB-BD31-4B8C-83A1-F6EECF244321}">
                <p14:modId xmlns:p14="http://schemas.microsoft.com/office/powerpoint/2010/main" val="2079425970"/>
              </p:ext>
            </p:extLst>
          </p:nvPr>
        </p:nvGraphicFramePr>
        <p:xfrm>
          <a:off x="4828247" y="5226106"/>
          <a:ext cx="7102821" cy="1108770"/>
        </p:xfrm>
        <a:graphic>
          <a:graphicData uri="http://schemas.openxmlformats.org/drawingml/2006/table">
            <a:tbl>
              <a:tblPr firstRow="1" bandRow="1">
                <a:tableStyleId>{5940675A-B579-460E-94D1-54222C63F5DA}</a:tableStyleId>
              </a:tblPr>
              <a:tblGrid>
                <a:gridCol w="2367607">
                  <a:extLst>
                    <a:ext uri="{9D8B030D-6E8A-4147-A177-3AD203B41FA5}">
                      <a16:colId xmlns:a16="http://schemas.microsoft.com/office/drawing/2014/main" val="1338057348"/>
                    </a:ext>
                  </a:extLst>
                </a:gridCol>
                <a:gridCol w="2367607">
                  <a:extLst>
                    <a:ext uri="{9D8B030D-6E8A-4147-A177-3AD203B41FA5}">
                      <a16:colId xmlns:a16="http://schemas.microsoft.com/office/drawing/2014/main" val="1348925879"/>
                    </a:ext>
                  </a:extLst>
                </a:gridCol>
                <a:gridCol w="2367607">
                  <a:extLst>
                    <a:ext uri="{9D8B030D-6E8A-4147-A177-3AD203B41FA5}">
                      <a16:colId xmlns:a16="http://schemas.microsoft.com/office/drawing/2014/main" val="867518967"/>
                    </a:ext>
                  </a:extLst>
                </a:gridCol>
              </a:tblGrid>
              <a:tr h="369590">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a:t>Cartridge T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a:t>Print bed T (°C)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8522811"/>
                  </a:ext>
                </a:extLst>
              </a:tr>
              <a:tr h="369590">
                <a:tc>
                  <a:txBody>
                    <a:bodyPr/>
                    <a:lstStyle/>
                    <a:p>
                      <a:r>
                        <a:rPr lang="en-US" sz="1600"/>
                        <a:t>BIOINK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lnSpc>
                          <a:spcPct val="200000"/>
                        </a:lnSpc>
                      </a:pPr>
                      <a:r>
                        <a:rPr lang="en-US" sz="160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7996561"/>
                  </a:ext>
                </a:extLst>
              </a:tr>
              <a:tr h="369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PEG 600 -1000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a:p>
                  </a:txBody>
                  <a:tcPr/>
                </a:tc>
                <a:extLst>
                  <a:ext uri="{0D108BD9-81ED-4DB2-BD59-A6C34878D82A}">
                    <a16:rowId xmlns:a16="http://schemas.microsoft.com/office/drawing/2014/main" val="148483322"/>
                  </a:ext>
                </a:extLst>
              </a:tr>
            </a:tbl>
          </a:graphicData>
        </a:graphic>
      </p:graphicFrame>
    </p:spTree>
    <p:extLst>
      <p:ext uri="{BB962C8B-B14F-4D97-AF65-F5344CB8AC3E}">
        <p14:creationId xmlns:p14="http://schemas.microsoft.com/office/powerpoint/2010/main" val="3540433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82FFA-065A-8AA0-BC04-D4BCE70A8E1A}"/>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854148F3-ECC1-2C9D-8F06-DE356E632C89}"/>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PRINTING GOAL </a:t>
            </a:r>
          </a:p>
        </p:txBody>
      </p:sp>
      <p:sp>
        <p:nvSpPr>
          <p:cNvPr id="11" name="TextBox 13">
            <a:extLst>
              <a:ext uri="{FF2B5EF4-FFF2-40B4-BE49-F238E27FC236}">
                <a16:creationId xmlns:a16="http://schemas.microsoft.com/office/drawing/2014/main" id="{134A5017-98F5-8EB3-16BC-1D079C28F6FF}"/>
              </a:ext>
            </a:extLst>
          </p:cNvPr>
          <p:cNvSpPr txBox="1"/>
          <p:nvPr/>
        </p:nvSpPr>
        <p:spPr>
          <a:xfrm>
            <a:off x="3834531" y="4949056"/>
            <a:ext cx="119776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FFFFFF"/>
                </a:solidFill>
                <a:latin typeface="Bangla MN" pitchFamily="2" charset="0"/>
                <a:cs typeface="Bangla MN" pitchFamily="2" charset="0"/>
              </a:rPr>
              <a:t>AMBIENT</a:t>
            </a:r>
          </a:p>
        </p:txBody>
      </p:sp>
      <p:pic>
        <p:nvPicPr>
          <p:cNvPr id="2" name="scaffold con sangue">
            <a:hlinkClick r:id="" action="ppaction://media"/>
            <a:extLst>
              <a:ext uri="{FF2B5EF4-FFF2-40B4-BE49-F238E27FC236}">
                <a16:creationId xmlns:a16="http://schemas.microsoft.com/office/drawing/2014/main" id="{D4952AC5-41F8-C99D-9022-F8C5E03C077F}"/>
              </a:ext>
            </a:extLst>
          </p:cNvPr>
          <p:cNvPicPr>
            <a:picLocks noChangeAspect="1"/>
          </p:cNvPicPr>
          <p:nvPr>
            <a:videoFile r:link="rId1"/>
            <p:extLst>
              <p:ext uri="{DAA4B4D4-6D71-4841-9C94-3DE7FCFB9230}">
                <p14:media xmlns:p14="http://schemas.microsoft.com/office/powerpoint/2010/main" r:embed="rId2">
                  <p14:trim st="1000" end="1.1343986666E6"/>
                </p14:media>
              </p:ext>
            </p:extLst>
          </p:nvPr>
        </p:nvPicPr>
        <p:blipFill>
          <a:blip r:embed="rId4"/>
          <a:stretch>
            <a:fillRect/>
          </a:stretch>
        </p:blipFill>
        <p:spPr>
          <a:xfrm>
            <a:off x="1431723" y="970609"/>
            <a:ext cx="9337154" cy="5252149"/>
          </a:xfrm>
          <a:prstGeom prst="rect">
            <a:avLst/>
          </a:prstGeom>
        </p:spPr>
      </p:pic>
    </p:spTree>
    <p:extLst>
      <p:ext uri="{BB962C8B-B14F-4D97-AF65-F5344CB8AC3E}">
        <p14:creationId xmlns:p14="http://schemas.microsoft.com/office/powerpoint/2010/main" val="202773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5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7A312-3E9E-7FD1-139A-398145B3ADBF}"/>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C9334FE5-5402-BF3F-DA86-8D961576642B}"/>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PRE-PRINTING CHARACTERIZATION</a:t>
            </a:r>
          </a:p>
        </p:txBody>
      </p:sp>
      <p:sp>
        <p:nvSpPr>
          <p:cNvPr id="10" name="TextBox 15">
            <a:extLst>
              <a:ext uri="{FF2B5EF4-FFF2-40B4-BE49-F238E27FC236}">
                <a16:creationId xmlns:a16="http://schemas.microsoft.com/office/drawing/2014/main" id="{D4B073A8-6D8B-568F-121A-28C8D80E19C5}"/>
              </a:ext>
            </a:extLst>
          </p:cNvPr>
          <p:cNvSpPr txBox="1"/>
          <p:nvPr/>
        </p:nvSpPr>
        <p:spPr>
          <a:xfrm>
            <a:off x="4790310" y="2769321"/>
            <a:ext cx="2191626" cy="10772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rgbClr val="FFFFFF"/>
                </a:solidFill>
                <a:latin typeface="Bangla MN" pitchFamily="2" charset="0"/>
                <a:cs typeface="Bangla MN" pitchFamily="2" charset="0"/>
              </a:rPr>
              <a:t>MORPHEUS</a:t>
            </a:r>
          </a:p>
        </p:txBody>
      </p:sp>
      <p:pic>
        <p:nvPicPr>
          <p:cNvPr id="2" name="Immagine 1" descr="Picture containing text, screenshot, diagram, Font&#10;&#10;Automatically generated description">
            <a:extLst>
              <a:ext uri="{FF2B5EF4-FFF2-40B4-BE49-F238E27FC236}">
                <a16:creationId xmlns:a16="http://schemas.microsoft.com/office/drawing/2014/main" id="{28A95785-AB9F-4EF8-3057-8F3330B86095}"/>
              </a:ext>
            </a:extLst>
          </p:cNvPr>
          <p:cNvPicPr>
            <a:picLocks noChangeAspect="1"/>
          </p:cNvPicPr>
          <p:nvPr/>
        </p:nvPicPr>
        <p:blipFill>
          <a:blip r:embed="rId2"/>
          <a:stretch>
            <a:fillRect/>
          </a:stretch>
        </p:blipFill>
        <p:spPr>
          <a:xfrm>
            <a:off x="-269631" y="1805673"/>
            <a:ext cx="6365630" cy="4090714"/>
          </a:xfrm>
          <a:prstGeom prst="rect">
            <a:avLst/>
          </a:prstGeom>
        </p:spPr>
      </p:pic>
      <p:pic>
        <p:nvPicPr>
          <p:cNvPr id="5" name="Immagine 4" descr="Picture containing text, diagram, Diagram, line&#10;&#10;Automatically generated description">
            <a:extLst>
              <a:ext uri="{FF2B5EF4-FFF2-40B4-BE49-F238E27FC236}">
                <a16:creationId xmlns:a16="http://schemas.microsoft.com/office/drawing/2014/main" id="{AADD12D8-1411-EBD0-5509-0CF418F340B4}"/>
              </a:ext>
            </a:extLst>
          </p:cNvPr>
          <p:cNvPicPr>
            <a:picLocks noChangeAspect="1"/>
          </p:cNvPicPr>
          <p:nvPr/>
        </p:nvPicPr>
        <p:blipFill>
          <a:blip r:embed="rId3"/>
          <a:stretch>
            <a:fillRect/>
          </a:stretch>
        </p:blipFill>
        <p:spPr>
          <a:xfrm>
            <a:off x="5603632" y="1805672"/>
            <a:ext cx="6588368" cy="4090715"/>
          </a:xfrm>
          <a:prstGeom prst="rect">
            <a:avLst/>
          </a:prstGeom>
        </p:spPr>
      </p:pic>
      <p:sp>
        <p:nvSpPr>
          <p:cNvPr id="6" name="CasellaDiTesto 5">
            <a:extLst>
              <a:ext uri="{FF2B5EF4-FFF2-40B4-BE49-F238E27FC236}">
                <a16:creationId xmlns:a16="http://schemas.microsoft.com/office/drawing/2014/main" id="{6FA4E7A0-2BB6-D52E-42A9-7853A9B5EC19}"/>
              </a:ext>
            </a:extLst>
          </p:cNvPr>
          <p:cNvSpPr txBox="1"/>
          <p:nvPr/>
        </p:nvSpPr>
        <p:spPr>
          <a:xfrm>
            <a:off x="366121" y="1251195"/>
            <a:ext cx="29278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Indirect cytotoxicity test:</a:t>
            </a:r>
          </a:p>
        </p:txBody>
      </p:sp>
      <p:sp>
        <p:nvSpPr>
          <p:cNvPr id="7" name="CasellaDiTesto 6">
            <a:extLst>
              <a:ext uri="{FF2B5EF4-FFF2-40B4-BE49-F238E27FC236}">
                <a16:creationId xmlns:a16="http://schemas.microsoft.com/office/drawing/2014/main" id="{AA5DC98A-06A6-F453-95C9-01B380345B1B}"/>
              </a:ext>
            </a:extLst>
          </p:cNvPr>
          <p:cNvSpPr txBox="1"/>
          <p:nvPr/>
        </p:nvSpPr>
        <p:spPr>
          <a:xfrm>
            <a:off x="5886276" y="1277469"/>
            <a:ext cx="5345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Rheological test with shear rate ramp:</a:t>
            </a:r>
            <a:endParaRPr lang="en-US" b="1"/>
          </a:p>
        </p:txBody>
      </p:sp>
    </p:spTree>
    <p:extLst>
      <p:ext uri="{BB962C8B-B14F-4D97-AF65-F5344CB8AC3E}">
        <p14:creationId xmlns:p14="http://schemas.microsoft.com/office/powerpoint/2010/main" val="2802525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93521-8A63-77D2-F87B-945F38DEE7BE}"/>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DCD3997A-20C5-DCA8-4CB3-982E2F02930C}"/>
              </a:ext>
            </a:extLst>
          </p:cNvPr>
          <p:cNvSpPr txBox="1"/>
          <p:nvPr/>
        </p:nvSpPr>
        <p:spPr>
          <a:xfrm>
            <a:off x="368440" y="216556"/>
            <a:ext cx="11822982"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POST-PRINTING CHARACTERIZATION</a:t>
            </a:r>
          </a:p>
        </p:txBody>
      </p:sp>
      <p:sp>
        <p:nvSpPr>
          <p:cNvPr id="10" name="TextBox 15">
            <a:extLst>
              <a:ext uri="{FF2B5EF4-FFF2-40B4-BE49-F238E27FC236}">
                <a16:creationId xmlns:a16="http://schemas.microsoft.com/office/drawing/2014/main" id="{F727FA90-0981-7018-F090-3C350C8082A7}"/>
              </a:ext>
            </a:extLst>
          </p:cNvPr>
          <p:cNvSpPr txBox="1"/>
          <p:nvPr/>
        </p:nvSpPr>
        <p:spPr>
          <a:xfrm>
            <a:off x="4790310" y="2769321"/>
            <a:ext cx="2191626" cy="10772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rgbClr val="FFFFFF"/>
                </a:solidFill>
                <a:latin typeface="Bangla MN" pitchFamily="2" charset="0"/>
                <a:cs typeface="Bangla MN" pitchFamily="2" charset="0"/>
              </a:rPr>
              <a:t>MORPHEUS</a:t>
            </a:r>
          </a:p>
        </p:txBody>
      </p:sp>
      <p:sp>
        <p:nvSpPr>
          <p:cNvPr id="11" name="TextBox 13">
            <a:extLst>
              <a:ext uri="{FF2B5EF4-FFF2-40B4-BE49-F238E27FC236}">
                <a16:creationId xmlns:a16="http://schemas.microsoft.com/office/drawing/2014/main" id="{2B7334F6-A829-C880-B808-62EDF4740BB1}"/>
              </a:ext>
            </a:extLst>
          </p:cNvPr>
          <p:cNvSpPr txBox="1"/>
          <p:nvPr/>
        </p:nvSpPr>
        <p:spPr>
          <a:xfrm>
            <a:off x="3834531" y="4949056"/>
            <a:ext cx="119776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FFFFFF"/>
                </a:solidFill>
                <a:latin typeface="Bangla MN" pitchFamily="2" charset="0"/>
                <a:cs typeface="Bangla MN" pitchFamily="2" charset="0"/>
              </a:rPr>
              <a:t>AMBIENT</a:t>
            </a:r>
          </a:p>
        </p:txBody>
      </p:sp>
      <p:pic>
        <p:nvPicPr>
          <p:cNvPr id="3" name="Immagine 2" descr="Picture containing text, diagram, line, Diagram&#10;&#10;Automatically generated description">
            <a:extLst>
              <a:ext uri="{FF2B5EF4-FFF2-40B4-BE49-F238E27FC236}">
                <a16:creationId xmlns:a16="http://schemas.microsoft.com/office/drawing/2014/main" id="{706A9138-9315-AB5E-CDCF-D2665D514C69}"/>
              </a:ext>
            </a:extLst>
          </p:cNvPr>
          <p:cNvPicPr>
            <a:picLocks noChangeAspect="1"/>
          </p:cNvPicPr>
          <p:nvPr/>
        </p:nvPicPr>
        <p:blipFill>
          <a:blip r:embed="rId2"/>
          <a:srcRect l="5378" t="1078" r="5002" b="10883"/>
          <a:stretch/>
        </p:blipFill>
        <p:spPr>
          <a:xfrm>
            <a:off x="-1" y="1934602"/>
            <a:ext cx="6543054" cy="4038123"/>
          </a:xfrm>
          <a:prstGeom prst="rect">
            <a:avLst/>
          </a:prstGeom>
        </p:spPr>
      </p:pic>
      <p:pic>
        <p:nvPicPr>
          <p:cNvPr id="4" name="Immagine 3" descr="Picture containing text, screenshot, diagram, line&#10;&#10;Automatically generated description">
            <a:extLst>
              <a:ext uri="{FF2B5EF4-FFF2-40B4-BE49-F238E27FC236}">
                <a16:creationId xmlns:a16="http://schemas.microsoft.com/office/drawing/2014/main" id="{61B7160C-9116-CA58-A446-2843BC8F5617}"/>
              </a:ext>
            </a:extLst>
          </p:cNvPr>
          <p:cNvPicPr>
            <a:picLocks noChangeAspect="1"/>
          </p:cNvPicPr>
          <p:nvPr/>
        </p:nvPicPr>
        <p:blipFill>
          <a:blip r:embed="rId3"/>
          <a:srcRect l="9076" t="7761" r="16577" b="-516"/>
          <a:stretch/>
        </p:blipFill>
        <p:spPr>
          <a:xfrm>
            <a:off x="6545084" y="1771815"/>
            <a:ext cx="5644646" cy="4345619"/>
          </a:xfrm>
          <a:prstGeom prst="rect">
            <a:avLst/>
          </a:prstGeom>
        </p:spPr>
      </p:pic>
      <p:sp>
        <p:nvSpPr>
          <p:cNvPr id="8" name="CasellaDiTesto 7">
            <a:extLst>
              <a:ext uri="{FF2B5EF4-FFF2-40B4-BE49-F238E27FC236}">
                <a16:creationId xmlns:a16="http://schemas.microsoft.com/office/drawing/2014/main" id="{FB0D197A-575A-7639-0013-B3795FD0BEE3}"/>
              </a:ext>
            </a:extLst>
          </p:cNvPr>
          <p:cNvSpPr txBox="1"/>
          <p:nvPr/>
        </p:nvSpPr>
        <p:spPr>
          <a:xfrm>
            <a:off x="379261" y="1277470"/>
            <a:ext cx="5345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Degradation test:</a:t>
            </a:r>
            <a:endParaRPr lang="en-US" b="1"/>
          </a:p>
        </p:txBody>
      </p:sp>
      <p:sp>
        <p:nvSpPr>
          <p:cNvPr id="12" name="CasellaDiTesto 11">
            <a:extLst>
              <a:ext uri="{FF2B5EF4-FFF2-40B4-BE49-F238E27FC236}">
                <a16:creationId xmlns:a16="http://schemas.microsoft.com/office/drawing/2014/main" id="{A02B7920-63C3-4784-F9D8-7C384A5772E0}"/>
              </a:ext>
            </a:extLst>
          </p:cNvPr>
          <p:cNvSpPr txBox="1"/>
          <p:nvPr/>
        </p:nvSpPr>
        <p:spPr>
          <a:xfrm>
            <a:off x="6847568" y="1277469"/>
            <a:ext cx="53452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Compression mechanical test:</a:t>
            </a:r>
          </a:p>
        </p:txBody>
      </p:sp>
    </p:spTree>
    <p:extLst>
      <p:ext uri="{BB962C8B-B14F-4D97-AF65-F5344CB8AC3E}">
        <p14:creationId xmlns:p14="http://schemas.microsoft.com/office/powerpoint/2010/main" val="3174665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1D8FF-F87A-3212-61EB-68D727675C71}"/>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55D3AB11-3303-F8EF-044C-E20C4CF93E0F}"/>
              </a:ext>
            </a:extLst>
          </p:cNvPr>
          <p:cNvSpPr txBox="1"/>
          <p:nvPr/>
        </p:nvSpPr>
        <p:spPr>
          <a:xfrm>
            <a:off x="368440" y="216556"/>
            <a:ext cx="11875533" cy="754053"/>
          </a:xfrm>
          <a:prstGeom prst="rect">
            <a:avLst/>
          </a:prstGeom>
          <a:noFill/>
        </p:spPr>
        <p:txBody>
          <a:bodyPr wrap="square" lIns="91440" tIns="45720" rIns="91440" bIns="45720" rtlCol="0" anchor="t">
            <a:spAutoFit/>
          </a:bodyPr>
          <a:lstStyle/>
          <a:p>
            <a:r>
              <a:rPr lang="en-US" sz="4300" b="1">
                <a:solidFill>
                  <a:srgbClr val="435EB4"/>
                </a:solidFill>
                <a:latin typeface="Bangla MN" pitchFamily="2" charset="0"/>
                <a:ea typeface="Hiragino Kaku Gothic Std W8" panose="020B0800000000000000" pitchFamily="34" charset="-128"/>
                <a:cs typeface="Bangla MN" pitchFamily="2" charset="0"/>
              </a:rPr>
              <a:t>POST-PRINTING CHARACTERIZATION</a:t>
            </a:r>
          </a:p>
        </p:txBody>
      </p:sp>
      <p:pic>
        <p:nvPicPr>
          <p:cNvPr id="4" name="Immagine 3" descr="Picture containing text, screenshot, diagram, line&#10;&#10;Automatically generated description">
            <a:extLst>
              <a:ext uri="{FF2B5EF4-FFF2-40B4-BE49-F238E27FC236}">
                <a16:creationId xmlns:a16="http://schemas.microsoft.com/office/drawing/2014/main" id="{828C8FE8-F58A-8C86-D067-902BAC7CBFCD}"/>
              </a:ext>
            </a:extLst>
          </p:cNvPr>
          <p:cNvPicPr>
            <a:picLocks noChangeAspect="1"/>
          </p:cNvPicPr>
          <p:nvPr/>
        </p:nvPicPr>
        <p:blipFill>
          <a:blip r:embed="rId2"/>
          <a:stretch>
            <a:fillRect/>
          </a:stretch>
        </p:blipFill>
        <p:spPr>
          <a:xfrm>
            <a:off x="0" y="1890080"/>
            <a:ext cx="5889523" cy="3680358"/>
          </a:xfrm>
          <a:prstGeom prst="rect">
            <a:avLst/>
          </a:prstGeom>
        </p:spPr>
      </p:pic>
      <p:sp>
        <p:nvSpPr>
          <p:cNvPr id="3" name="CasellaDiTesto 2">
            <a:extLst>
              <a:ext uri="{FF2B5EF4-FFF2-40B4-BE49-F238E27FC236}">
                <a16:creationId xmlns:a16="http://schemas.microsoft.com/office/drawing/2014/main" id="{BEAE5C4A-72B2-142D-FAF6-5A5EA9F86414}"/>
              </a:ext>
            </a:extLst>
          </p:cNvPr>
          <p:cNvSpPr txBox="1"/>
          <p:nvPr/>
        </p:nvSpPr>
        <p:spPr>
          <a:xfrm>
            <a:off x="366121" y="1247476"/>
            <a:ext cx="34263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Indirect cytotoxicity test :</a:t>
            </a:r>
          </a:p>
        </p:txBody>
      </p:sp>
      <p:pic>
        <p:nvPicPr>
          <p:cNvPr id="6" name="Immagine 5" descr="Picture containing text, screenshot, diagram, Font&#10;&#10;Automatically generated description">
            <a:extLst>
              <a:ext uri="{FF2B5EF4-FFF2-40B4-BE49-F238E27FC236}">
                <a16:creationId xmlns:a16="http://schemas.microsoft.com/office/drawing/2014/main" id="{96FDA183-26E1-BF81-0E34-A34EB6D138D3}"/>
              </a:ext>
            </a:extLst>
          </p:cNvPr>
          <p:cNvPicPr>
            <a:picLocks noChangeAspect="1"/>
          </p:cNvPicPr>
          <p:nvPr/>
        </p:nvPicPr>
        <p:blipFill>
          <a:blip r:embed="rId3"/>
          <a:stretch>
            <a:fillRect/>
          </a:stretch>
        </p:blipFill>
        <p:spPr>
          <a:xfrm>
            <a:off x="5691959" y="1949074"/>
            <a:ext cx="6686854" cy="4178583"/>
          </a:xfrm>
          <a:prstGeom prst="rect">
            <a:avLst/>
          </a:prstGeom>
        </p:spPr>
      </p:pic>
      <p:sp>
        <p:nvSpPr>
          <p:cNvPr id="2" name="CasellaDiTesto 1">
            <a:extLst>
              <a:ext uri="{FF2B5EF4-FFF2-40B4-BE49-F238E27FC236}">
                <a16:creationId xmlns:a16="http://schemas.microsoft.com/office/drawing/2014/main" id="{161E9623-D3FD-2BD9-2219-9EDC917AC8F9}"/>
              </a:ext>
            </a:extLst>
          </p:cNvPr>
          <p:cNvSpPr txBox="1"/>
          <p:nvPr/>
        </p:nvSpPr>
        <p:spPr>
          <a:xfrm>
            <a:off x="5884324" y="1241678"/>
            <a:ext cx="631474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Cell viability ratio between the inside and outside of the scaffold:</a:t>
            </a:r>
            <a:endParaRPr lang="en-US">
              <a:latin typeface="Calibri"/>
              <a:ea typeface="Calibri"/>
              <a:cs typeface="Calibri"/>
            </a:endParaRPr>
          </a:p>
          <a:p>
            <a:pPr algn="l"/>
            <a:endParaRPr lang="en-US">
              <a:ea typeface="Calibri"/>
              <a:cs typeface="Calibri"/>
            </a:endParaRPr>
          </a:p>
        </p:txBody>
      </p:sp>
    </p:spTree>
    <p:extLst>
      <p:ext uri="{BB962C8B-B14F-4D97-AF65-F5344CB8AC3E}">
        <p14:creationId xmlns:p14="http://schemas.microsoft.com/office/powerpoint/2010/main" val="133577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617A0-5815-29D1-971D-5543C5C7CB5E}"/>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D7FB3781-B833-32C2-9169-B9BFBEE10527}"/>
              </a:ext>
            </a:extLst>
          </p:cNvPr>
          <p:cNvSpPr txBox="1"/>
          <p:nvPr/>
        </p:nvSpPr>
        <p:spPr>
          <a:xfrm>
            <a:off x="368440" y="216556"/>
            <a:ext cx="11455120" cy="754053"/>
          </a:xfrm>
          <a:prstGeom prst="rect">
            <a:avLst/>
          </a:prstGeom>
          <a:noFill/>
        </p:spPr>
        <p:txBody>
          <a:bodyPr wrap="square" lIns="91440" tIns="45720" rIns="91440" bIns="45720" rtlCol="0" anchor="t">
            <a:spAutoFit/>
          </a:bodyPr>
          <a:lstStyle/>
          <a:p>
            <a:r>
              <a:rPr lang="en-US" sz="4300" b="1">
                <a:solidFill>
                  <a:srgbClr val="435EB4"/>
                </a:solidFill>
                <a:latin typeface="Bangla MN"/>
                <a:ea typeface="Hiragino Kaku Gothic Std W8"/>
                <a:cs typeface="Bangla MN" pitchFamily="2" charset="0"/>
              </a:rPr>
              <a:t>CONCLUSIONS AND FUTURE DEVELOPMENTS</a:t>
            </a:r>
          </a:p>
        </p:txBody>
      </p:sp>
      <p:graphicFrame>
        <p:nvGraphicFramePr>
          <p:cNvPr id="7" name="Tabella 6">
            <a:extLst>
              <a:ext uri="{FF2B5EF4-FFF2-40B4-BE49-F238E27FC236}">
                <a16:creationId xmlns:a16="http://schemas.microsoft.com/office/drawing/2014/main" id="{D2ADDCBE-6FD6-9849-8E7F-9181F6ED5164}"/>
              </a:ext>
            </a:extLst>
          </p:cNvPr>
          <p:cNvGraphicFramePr>
            <a:graphicFrameLocks noGrp="1"/>
          </p:cNvGraphicFramePr>
          <p:nvPr>
            <p:extLst>
              <p:ext uri="{D42A27DB-BD31-4B8C-83A1-F6EECF244321}">
                <p14:modId xmlns:p14="http://schemas.microsoft.com/office/powerpoint/2010/main" val="1954518452"/>
              </p:ext>
            </p:extLst>
          </p:nvPr>
        </p:nvGraphicFramePr>
        <p:xfrm>
          <a:off x="6561455" y="1230310"/>
          <a:ext cx="4888307" cy="1752599"/>
        </p:xfrm>
        <a:graphic>
          <a:graphicData uri="http://schemas.openxmlformats.org/drawingml/2006/table">
            <a:tbl>
              <a:tblPr firstRow="1" bandRow="1">
                <a:tableStyleId>{5940675A-B579-460E-94D1-54222C63F5DA}</a:tableStyleId>
              </a:tblPr>
              <a:tblGrid>
                <a:gridCol w="2599247">
                  <a:extLst>
                    <a:ext uri="{9D8B030D-6E8A-4147-A177-3AD203B41FA5}">
                      <a16:colId xmlns:a16="http://schemas.microsoft.com/office/drawing/2014/main" val="3052052305"/>
                    </a:ext>
                  </a:extLst>
                </a:gridCol>
                <a:gridCol w="1144530">
                  <a:extLst>
                    <a:ext uri="{9D8B030D-6E8A-4147-A177-3AD203B41FA5}">
                      <a16:colId xmlns:a16="http://schemas.microsoft.com/office/drawing/2014/main" val="1590651760"/>
                    </a:ext>
                  </a:extLst>
                </a:gridCol>
                <a:gridCol w="1144530">
                  <a:extLst>
                    <a:ext uri="{9D8B030D-6E8A-4147-A177-3AD203B41FA5}">
                      <a16:colId xmlns:a16="http://schemas.microsoft.com/office/drawing/2014/main" val="1915772734"/>
                    </a:ext>
                  </a:extLst>
                </a:gridCol>
              </a:tblGrid>
              <a:tr h="370839">
                <a:tc>
                  <a:txBody>
                    <a:bodyPr/>
                    <a:lstStyle/>
                    <a:p>
                      <a:pPr marL="0" lvl="0" indent="0" algn="l" defTabSz="914400">
                        <a:lnSpc>
                          <a:spcPct val="100000"/>
                        </a:lnSpc>
                        <a:spcBef>
                          <a:spcPts val="0"/>
                        </a:spcBef>
                        <a:spcAft>
                          <a:spcPts val="0"/>
                        </a:spcAft>
                        <a:buNone/>
                        <a:tabLst/>
                        <a:defRPr/>
                      </a:pPr>
                      <a:r>
                        <a:rPr lang="en-US" sz="1800" b="0" i="0" u="none" strike="noStrike" noProof="0">
                          <a:latin typeface="+mn-lt"/>
                        </a:rPr>
                        <a:t>parameters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C9E3"/>
                    </a:solidFill>
                  </a:tcPr>
                </a:tc>
                <a:tc>
                  <a:txBody>
                    <a:bodyPr/>
                    <a:lstStyle/>
                    <a:p>
                      <a:pPr marL="0" lvl="0" indent="0" algn="l" defTabSz="914400">
                        <a:lnSpc>
                          <a:spcPct val="100000"/>
                        </a:lnSpc>
                        <a:spcBef>
                          <a:spcPts val="0"/>
                        </a:spcBef>
                        <a:spcAft>
                          <a:spcPts val="0"/>
                        </a:spcAft>
                        <a:buNone/>
                        <a:tabLst/>
                        <a:defRPr/>
                      </a:pPr>
                      <a:r>
                        <a:rPr lang="en-US"/>
                        <a:t>today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C9E3"/>
                    </a:solidFill>
                  </a:tcPr>
                </a:tc>
                <a:tc>
                  <a:txBody>
                    <a:bodyPr/>
                    <a:lstStyle/>
                    <a:p>
                      <a:pPr marL="0" lvl="0" indent="0" algn="l" defTabSz="914400">
                        <a:lnSpc>
                          <a:spcPct val="100000"/>
                        </a:lnSpc>
                        <a:spcBef>
                          <a:spcPts val="0"/>
                        </a:spcBef>
                        <a:spcAft>
                          <a:spcPts val="0"/>
                        </a:spcAft>
                        <a:buNone/>
                        <a:tabLst/>
                        <a:defRPr/>
                      </a:pPr>
                      <a:r>
                        <a:rPr lang="en-US"/>
                        <a:t>goal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C9E3"/>
                    </a:solidFill>
                  </a:tcPr>
                </a:tc>
                <a:extLst>
                  <a:ext uri="{0D108BD9-81ED-4DB2-BD59-A6C34878D82A}">
                    <a16:rowId xmlns:a16="http://schemas.microsoft.com/office/drawing/2014/main" val="34105270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noProof="0">
                          <a:latin typeface="+mn-lt"/>
                        </a:rPr>
                        <a:t>Ø</a:t>
                      </a:r>
                      <a:r>
                        <a:rPr lang="en-US" sz="1800" b="1" i="0" u="none" strike="noStrike" noProof="0">
                          <a:latin typeface="+mn-lt"/>
                        </a:rPr>
                        <a:t> </a:t>
                      </a:r>
                      <a:r>
                        <a:rPr lang="en-US" sz="1800" b="0" i="0" u="none" strike="noStrike" noProof="0">
                          <a:latin typeface="+mn-lt"/>
                        </a:rPr>
                        <a:t>of the circumference:</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C9E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lvl="0" indent="0" algn="l" defTabSz="914400">
                        <a:lnSpc>
                          <a:spcPct val="100000"/>
                        </a:lnSpc>
                        <a:spcBef>
                          <a:spcPts val="0"/>
                        </a:spcBef>
                        <a:spcAft>
                          <a:spcPts val="0"/>
                        </a:spcAft>
                        <a:buNone/>
                        <a:tabLst/>
                        <a:defRPr/>
                      </a:pPr>
                      <a:r>
                        <a:rPr lang="en-US"/>
                        <a:t>1mm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7983502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noProof="0">
                          <a:latin typeface="+mn-lt"/>
                        </a:rPr>
                        <a:t>Ø</a:t>
                      </a:r>
                      <a:r>
                        <a:rPr lang="en-US" sz="1800" b="1" i="0" u="none" strike="noStrike" noProof="0">
                          <a:latin typeface="+mn-lt"/>
                        </a:rPr>
                        <a:t> </a:t>
                      </a:r>
                      <a:r>
                        <a:rPr lang="en-US"/>
                        <a:t>of the longitudinal channel: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C9E3"/>
                    </a:solidFill>
                  </a:tcPr>
                </a:tc>
                <a:tc>
                  <a:txBody>
                    <a:bodyPr/>
                    <a:lstStyle/>
                    <a:p>
                      <a:r>
                        <a:rPr lang="en-US"/>
                        <a:t>250 </a:t>
                      </a:r>
                      <a:r>
                        <a:rPr lang="el-GR"/>
                        <a:t>μ</a:t>
                      </a:r>
                      <a:r>
                        <a:rPr lang="en-US"/>
                        <a:t>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lvl="0">
                        <a:buNone/>
                      </a:pPr>
                      <a:r>
                        <a:rPr lang="en-US" sz="1800" b="0" i="0" u="none" strike="noStrike" noProof="0">
                          <a:solidFill>
                            <a:srgbClr val="000000"/>
                          </a:solidFill>
                          <a:latin typeface="Calibri"/>
                        </a:rPr>
                        <a:t>150 </a:t>
                      </a:r>
                      <a:r>
                        <a:rPr lang="el-GR" sz="1800" b="0" i="0" u="none" strike="noStrike" noProof="0">
                          <a:solidFill>
                            <a:srgbClr val="000000"/>
                          </a:solidFill>
                          <a:latin typeface="Calibri"/>
                        </a:rPr>
                        <a:t>μ</a:t>
                      </a:r>
                      <a:r>
                        <a:rPr lang="en-US" sz="1800" b="0" i="0" u="none" strike="noStrike" noProof="0">
                          <a:solidFill>
                            <a:srgbClr val="000000"/>
                          </a:solidFill>
                          <a:latin typeface="Calibri"/>
                        </a:rPr>
                        <a:t>m</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21213349"/>
                  </a:ext>
                </a:extLst>
              </a:tr>
              <a:tr h="370840">
                <a:tc>
                  <a:txBody>
                    <a:bodyPr/>
                    <a:lstStyle/>
                    <a:p>
                      <a:pPr lvl="0">
                        <a:buNone/>
                      </a:pPr>
                      <a:r>
                        <a:rPr lang="en-US" sz="1800" b="0" i="0" u="none" strike="noStrike" noProof="0">
                          <a:latin typeface="Calibri"/>
                        </a:rPr>
                        <a:t>L</a:t>
                      </a:r>
                      <a:r>
                        <a:rPr lang="en-US" sz="1800" b="1" i="0" u="none" strike="noStrike" noProof="0">
                          <a:latin typeface="Calibri"/>
                        </a:rPr>
                        <a:t> </a:t>
                      </a:r>
                      <a:r>
                        <a:rPr lang="en-US" sz="1800" b="0" i="0" u="none" strike="noStrike" noProof="0">
                          <a:latin typeface="Calibri"/>
                        </a:rPr>
                        <a:t>of the transverse channels:</a:t>
                      </a:r>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C9E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150 </a:t>
                      </a:r>
                      <a:r>
                        <a:rPr lang="el-GR"/>
                        <a:t>μ</a:t>
                      </a:r>
                      <a:r>
                        <a:rPr lang="en-US"/>
                        <a:t>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lvl="0" indent="0" algn="l">
                        <a:lnSpc>
                          <a:spcPct val="100000"/>
                        </a:lnSpc>
                        <a:spcBef>
                          <a:spcPts val="0"/>
                        </a:spcBef>
                        <a:spcAft>
                          <a:spcPts val="0"/>
                        </a:spcAft>
                        <a:buNone/>
                      </a:pPr>
                      <a:r>
                        <a:rPr lang="en-US" sz="1800" b="0" i="0" u="none" strike="noStrike" noProof="0">
                          <a:solidFill>
                            <a:srgbClr val="000000"/>
                          </a:solidFill>
                          <a:latin typeface="Calibri"/>
                        </a:rPr>
                        <a:t>50 </a:t>
                      </a:r>
                      <a:r>
                        <a:rPr lang="el-GR" sz="1800" b="0" i="0" u="none" strike="noStrike" noProof="0">
                          <a:solidFill>
                            <a:srgbClr val="000000"/>
                          </a:solidFill>
                          <a:latin typeface="Calibri"/>
                        </a:rPr>
                        <a:t>μ</a:t>
                      </a:r>
                      <a:r>
                        <a:rPr lang="en-US" sz="1800" b="0" i="0" u="none" strike="noStrike" noProof="0">
                          <a:solidFill>
                            <a:srgbClr val="000000"/>
                          </a:solidFill>
                          <a:latin typeface="Calibri"/>
                        </a:rPr>
                        <a:t>m</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52722391"/>
                  </a:ext>
                </a:extLst>
              </a:tr>
            </a:tbl>
          </a:graphicData>
        </a:graphic>
      </p:graphicFrame>
      <p:sp>
        <p:nvSpPr>
          <p:cNvPr id="16" name="Esagono orizzontale 19">
            <a:extLst>
              <a:ext uri="{FF2B5EF4-FFF2-40B4-BE49-F238E27FC236}">
                <a16:creationId xmlns:a16="http://schemas.microsoft.com/office/drawing/2014/main" id="{9A369D6C-4514-B41E-BD86-ED37FB2FD513}"/>
              </a:ext>
            </a:extLst>
          </p:cNvPr>
          <p:cNvSpPr/>
          <p:nvPr/>
        </p:nvSpPr>
        <p:spPr>
          <a:xfrm>
            <a:off x="364127" y="3054046"/>
            <a:ext cx="1672710" cy="1530837"/>
          </a:xfrm>
          <a:prstGeom prst="hexagon">
            <a:avLst/>
          </a:prstGeom>
          <a:solidFill>
            <a:srgbClr val="BCC4D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Porosity</a:t>
            </a:r>
          </a:p>
        </p:txBody>
      </p:sp>
      <p:sp>
        <p:nvSpPr>
          <p:cNvPr id="17" name="Esagono orizzontale 25">
            <a:extLst>
              <a:ext uri="{FF2B5EF4-FFF2-40B4-BE49-F238E27FC236}">
                <a16:creationId xmlns:a16="http://schemas.microsoft.com/office/drawing/2014/main" id="{A94E49C1-6A0D-1A8B-BB41-BCEF222BC019}"/>
              </a:ext>
            </a:extLst>
          </p:cNvPr>
          <p:cNvSpPr/>
          <p:nvPr/>
        </p:nvSpPr>
        <p:spPr>
          <a:xfrm>
            <a:off x="1814371" y="2250858"/>
            <a:ext cx="1664411" cy="1493134"/>
          </a:xfrm>
          <a:prstGeom prst="hexagon">
            <a:avLst/>
          </a:prstGeom>
          <a:solidFill>
            <a:srgbClr val="C0A9B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Cell adhesion</a:t>
            </a:r>
          </a:p>
        </p:txBody>
      </p:sp>
      <p:grpSp>
        <p:nvGrpSpPr>
          <p:cNvPr id="18" name="Gruppo 17">
            <a:extLst>
              <a:ext uri="{FF2B5EF4-FFF2-40B4-BE49-F238E27FC236}">
                <a16:creationId xmlns:a16="http://schemas.microsoft.com/office/drawing/2014/main" id="{E1B4DDBB-7B6B-0549-371C-076F2651D88A}"/>
              </a:ext>
            </a:extLst>
          </p:cNvPr>
          <p:cNvGrpSpPr/>
          <p:nvPr/>
        </p:nvGrpSpPr>
        <p:grpSpPr>
          <a:xfrm>
            <a:off x="1812498" y="3851736"/>
            <a:ext cx="1664411" cy="1493134"/>
            <a:chOff x="2085397" y="3316147"/>
            <a:chExt cx="1664411" cy="1493134"/>
          </a:xfrm>
          <a:solidFill>
            <a:srgbClr val="6BBAEC"/>
          </a:solidFill>
        </p:grpSpPr>
        <p:sp>
          <p:nvSpPr>
            <p:cNvPr id="28" name="Esagono orizzontale 26">
              <a:extLst>
                <a:ext uri="{FF2B5EF4-FFF2-40B4-BE49-F238E27FC236}">
                  <a16:creationId xmlns:a16="http://schemas.microsoft.com/office/drawing/2014/main" id="{CA37E126-C726-ECF3-2CA7-519C8AA40DD7}"/>
                </a:ext>
              </a:extLst>
            </p:cNvPr>
            <p:cNvSpPr/>
            <p:nvPr/>
          </p:nvSpPr>
          <p:spPr>
            <a:xfrm>
              <a:off x="2085397" y="3316147"/>
              <a:ext cx="1664411" cy="1493134"/>
            </a:xfrm>
            <a:prstGeom prst="hexagon">
              <a:avLst/>
            </a:prstGeom>
            <a:solidFill>
              <a:srgbClr val="C1CFF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9" name="CasellaDiTesto 28">
              <a:extLst>
                <a:ext uri="{FF2B5EF4-FFF2-40B4-BE49-F238E27FC236}">
                  <a16:creationId xmlns:a16="http://schemas.microsoft.com/office/drawing/2014/main" id="{79D577D8-D5E5-3FEB-173E-B0787093DADB}"/>
                </a:ext>
              </a:extLst>
            </p:cNvPr>
            <p:cNvSpPr txBox="1"/>
            <p:nvPr/>
          </p:nvSpPr>
          <p:spPr>
            <a:xfrm>
              <a:off x="2181879" y="3908825"/>
              <a:ext cx="1471448" cy="307777"/>
            </a:xfrm>
            <a:prstGeom prst="rect">
              <a:avLst/>
            </a:prstGeom>
            <a:noFill/>
            <a:ln>
              <a:noFill/>
            </a:ln>
          </p:spPr>
          <p:txBody>
            <a:bodyPr wrap="square" rtlCol="0">
              <a:spAutoFit/>
            </a:bodyPr>
            <a:lstStyle/>
            <a:p>
              <a:r>
                <a:rPr lang="en-US" sz="1400">
                  <a:solidFill>
                    <a:schemeClr val="bg1"/>
                  </a:solidFill>
                </a:rPr>
                <a:t>Vascularization</a:t>
              </a:r>
            </a:p>
          </p:txBody>
        </p:sp>
      </p:grpSp>
      <p:grpSp>
        <p:nvGrpSpPr>
          <p:cNvPr id="19" name="Gruppo 18">
            <a:extLst>
              <a:ext uri="{FF2B5EF4-FFF2-40B4-BE49-F238E27FC236}">
                <a16:creationId xmlns:a16="http://schemas.microsoft.com/office/drawing/2014/main" id="{A6F5DF00-1AC0-1109-838F-80E0816B54E7}"/>
              </a:ext>
            </a:extLst>
          </p:cNvPr>
          <p:cNvGrpSpPr/>
          <p:nvPr/>
        </p:nvGrpSpPr>
        <p:grpSpPr>
          <a:xfrm>
            <a:off x="3243819" y="4641832"/>
            <a:ext cx="1664411" cy="1493134"/>
            <a:chOff x="3516717" y="884108"/>
            <a:chExt cx="1664411" cy="1493134"/>
          </a:xfrm>
          <a:solidFill>
            <a:srgbClr val="7880B5"/>
          </a:solidFill>
        </p:grpSpPr>
        <p:sp>
          <p:nvSpPr>
            <p:cNvPr id="26" name="Esagono orizzontale 28">
              <a:extLst>
                <a:ext uri="{FF2B5EF4-FFF2-40B4-BE49-F238E27FC236}">
                  <a16:creationId xmlns:a16="http://schemas.microsoft.com/office/drawing/2014/main" id="{C44135C2-1FCF-B9F8-74DD-3BB88957EB48}"/>
                </a:ext>
              </a:extLst>
            </p:cNvPr>
            <p:cNvSpPr/>
            <p:nvPr/>
          </p:nvSpPr>
          <p:spPr>
            <a:xfrm>
              <a:off x="3516717" y="884108"/>
              <a:ext cx="1664411" cy="1493134"/>
            </a:xfrm>
            <a:prstGeom prst="hexagon">
              <a:avLst/>
            </a:prstGeom>
            <a:solidFill>
              <a:srgbClr val="9882A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CasellaDiTesto 26">
              <a:extLst>
                <a:ext uri="{FF2B5EF4-FFF2-40B4-BE49-F238E27FC236}">
                  <a16:creationId xmlns:a16="http://schemas.microsoft.com/office/drawing/2014/main" id="{3850AFD6-5A23-F745-4718-16AD31A3A130}"/>
                </a:ext>
              </a:extLst>
            </p:cNvPr>
            <p:cNvSpPr txBox="1"/>
            <p:nvPr/>
          </p:nvSpPr>
          <p:spPr>
            <a:xfrm>
              <a:off x="3629836" y="1442684"/>
              <a:ext cx="1438172" cy="369332"/>
            </a:xfrm>
            <a:prstGeom prst="rect">
              <a:avLst/>
            </a:prstGeom>
            <a:noFill/>
            <a:ln>
              <a:noFill/>
            </a:ln>
          </p:spPr>
          <p:txBody>
            <a:bodyPr wrap="square" rtlCol="0">
              <a:spAutoFit/>
            </a:bodyPr>
            <a:lstStyle/>
            <a:p>
              <a:r>
                <a:rPr lang="en-US">
                  <a:solidFill>
                    <a:schemeClr val="bg1"/>
                  </a:solidFill>
                </a:rPr>
                <a:t>Degradability</a:t>
              </a:r>
            </a:p>
          </p:txBody>
        </p:sp>
      </p:grpSp>
      <p:grpSp>
        <p:nvGrpSpPr>
          <p:cNvPr id="20" name="Gruppo 19">
            <a:extLst>
              <a:ext uri="{FF2B5EF4-FFF2-40B4-BE49-F238E27FC236}">
                <a16:creationId xmlns:a16="http://schemas.microsoft.com/office/drawing/2014/main" id="{8E749B2D-55AC-3DA6-6A66-C1E90FF9C6EE}"/>
              </a:ext>
            </a:extLst>
          </p:cNvPr>
          <p:cNvGrpSpPr/>
          <p:nvPr/>
        </p:nvGrpSpPr>
        <p:grpSpPr>
          <a:xfrm>
            <a:off x="3243819" y="3044782"/>
            <a:ext cx="1664411" cy="1493134"/>
            <a:chOff x="3516717" y="2520768"/>
            <a:chExt cx="1664411" cy="1493134"/>
          </a:xfrm>
          <a:solidFill>
            <a:srgbClr val="7980B5"/>
          </a:solidFill>
        </p:grpSpPr>
        <p:sp>
          <p:nvSpPr>
            <p:cNvPr id="24" name="Esagono orizzontale 27">
              <a:extLst>
                <a:ext uri="{FF2B5EF4-FFF2-40B4-BE49-F238E27FC236}">
                  <a16:creationId xmlns:a16="http://schemas.microsoft.com/office/drawing/2014/main" id="{4C2639FA-240A-FF9D-6997-4B248C602325}"/>
                </a:ext>
              </a:extLst>
            </p:cNvPr>
            <p:cNvSpPr/>
            <p:nvPr/>
          </p:nvSpPr>
          <p:spPr>
            <a:xfrm>
              <a:off x="3516717" y="2520768"/>
              <a:ext cx="1664411" cy="1493134"/>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CasellaDiTesto 24">
              <a:extLst>
                <a:ext uri="{FF2B5EF4-FFF2-40B4-BE49-F238E27FC236}">
                  <a16:creationId xmlns:a16="http://schemas.microsoft.com/office/drawing/2014/main" id="{424B0136-A6AE-E057-60D7-D83BED44A05F}"/>
                </a:ext>
              </a:extLst>
            </p:cNvPr>
            <p:cNvSpPr txBox="1"/>
            <p:nvPr/>
          </p:nvSpPr>
          <p:spPr>
            <a:xfrm>
              <a:off x="3639474" y="2946598"/>
              <a:ext cx="1418896" cy="646331"/>
            </a:xfrm>
            <a:prstGeom prst="rect">
              <a:avLst/>
            </a:prstGeom>
            <a:noFill/>
            <a:ln>
              <a:noFill/>
            </a:ln>
          </p:spPr>
          <p:txBody>
            <a:bodyPr wrap="square" rtlCol="0">
              <a:spAutoFit/>
            </a:bodyPr>
            <a:lstStyle/>
            <a:p>
              <a:pPr algn="ctr"/>
              <a:r>
                <a:rPr lang="en-US">
                  <a:solidFill>
                    <a:schemeClr val="bg1"/>
                  </a:solidFill>
                </a:rPr>
                <a:t>Mechanical properties</a:t>
              </a:r>
            </a:p>
          </p:txBody>
        </p:sp>
      </p:grpSp>
      <p:grpSp>
        <p:nvGrpSpPr>
          <p:cNvPr id="21" name="Gruppo 20">
            <a:extLst>
              <a:ext uri="{FF2B5EF4-FFF2-40B4-BE49-F238E27FC236}">
                <a16:creationId xmlns:a16="http://schemas.microsoft.com/office/drawing/2014/main" id="{55F8DA7C-5F19-876F-10B7-2BFE786E7F27}"/>
              </a:ext>
            </a:extLst>
          </p:cNvPr>
          <p:cNvGrpSpPr/>
          <p:nvPr/>
        </p:nvGrpSpPr>
        <p:grpSpPr>
          <a:xfrm>
            <a:off x="3223498" y="1445260"/>
            <a:ext cx="1664411" cy="1493134"/>
            <a:chOff x="3530425" y="2520768"/>
            <a:chExt cx="1664411" cy="1493134"/>
          </a:xfrm>
          <a:solidFill>
            <a:srgbClr val="DDC9E3"/>
          </a:solidFill>
        </p:grpSpPr>
        <p:sp>
          <p:nvSpPr>
            <p:cNvPr id="22" name="Esagono orizzontale 10">
              <a:extLst>
                <a:ext uri="{FF2B5EF4-FFF2-40B4-BE49-F238E27FC236}">
                  <a16:creationId xmlns:a16="http://schemas.microsoft.com/office/drawing/2014/main" id="{2D4A7E02-0E8F-50C4-8CD6-0C9B27BB21EA}"/>
                </a:ext>
              </a:extLst>
            </p:cNvPr>
            <p:cNvSpPr/>
            <p:nvPr/>
          </p:nvSpPr>
          <p:spPr>
            <a:xfrm>
              <a:off x="3530425" y="2520768"/>
              <a:ext cx="1664411" cy="1493134"/>
            </a:xfrm>
            <a:prstGeom prst="hexag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CasellaDiTesto 22">
              <a:extLst>
                <a:ext uri="{FF2B5EF4-FFF2-40B4-BE49-F238E27FC236}">
                  <a16:creationId xmlns:a16="http://schemas.microsoft.com/office/drawing/2014/main" id="{13459181-C9EC-CC83-FC6C-9A0D54EF1DB5}"/>
                </a:ext>
              </a:extLst>
            </p:cNvPr>
            <p:cNvSpPr txBox="1"/>
            <p:nvPr/>
          </p:nvSpPr>
          <p:spPr>
            <a:xfrm>
              <a:off x="3637420" y="3068829"/>
              <a:ext cx="1418896" cy="369332"/>
            </a:xfrm>
            <a:prstGeom prst="rect">
              <a:avLst/>
            </a:prstGeom>
            <a:grpFill/>
            <a:ln>
              <a:noFill/>
            </a:ln>
          </p:spPr>
          <p:txBody>
            <a:bodyPr wrap="square" rtlCol="0">
              <a:spAutoFit/>
            </a:bodyPr>
            <a:lstStyle/>
            <a:p>
              <a:pPr algn="ctr"/>
              <a:r>
                <a:rPr lang="en-US">
                  <a:solidFill>
                    <a:schemeClr val="bg1"/>
                  </a:solidFill>
                </a:rPr>
                <a:t>Geometry</a:t>
              </a:r>
            </a:p>
          </p:txBody>
        </p:sp>
      </p:grpSp>
      <p:pic>
        <p:nvPicPr>
          <p:cNvPr id="36" name="Graphic 2" descr="Checkmark with solid fill">
            <a:extLst>
              <a:ext uri="{FF2B5EF4-FFF2-40B4-BE49-F238E27FC236}">
                <a16:creationId xmlns:a16="http://schemas.microsoft.com/office/drawing/2014/main" id="{CF0D31AD-BCFD-96F6-AF5E-7DC6FB402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2803" y="2858694"/>
            <a:ext cx="495663" cy="570002"/>
          </a:xfrm>
          <a:prstGeom prst="rect">
            <a:avLst/>
          </a:prstGeom>
        </p:spPr>
      </p:pic>
      <p:pic>
        <p:nvPicPr>
          <p:cNvPr id="2" name="Graphic 2" descr="Checkmark with solid fill">
            <a:extLst>
              <a:ext uri="{FF2B5EF4-FFF2-40B4-BE49-F238E27FC236}">
                <a16:creationId xmlns:a16="http://schemas.microsoft.com/office/drawing/2014/main" id="{37B75518-6E47-9037-3F97-0C9C87B3F5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15290" y="2105986"/>
            <a:ext cx="495663" cy="570002"/>
          </a:xfrm>
          <a:prstGeom prst="rect">
            <a:avLst/>
          </a:prstGeom>
        </p:spPr>
      </p:pic>
      <p:pic>
        <p:nvPicPr>
          <p:cNvPr id="3" name="Graphic 2" descr="Checkmark with solid fill">
            <a:extLst>
              <a:ext uri="{FF2B5EF4-FFF2-40B4-BE49-F238E27FC236}">
                <a16:creationId xmlns:a16="http://schemas.microsoft.com/office/drawing/2014/main" id="{30FD1AA5-A979-4007-E568-032AFFC815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15290" y="3629986"/>
            <a:ext cx="495663" cy="570002"/>
          </a:xfrm>
          <a:prstGeom prst="rect">
            <a:avLst/>
          </a:prstGeom>
        </p:spPr>
      </p:pic>
      <p:pic>
        <p:nvPicPr>
          <p:cNvPr id="4" name="Graphic 2" descr="Checkmark with solid fill">
            <a:extLst>
              <a:ext uri="{FF2B5EF4-FFF2-40B4-BE49-F238E27FC236}">
                <a16:creationId xmlns:a16="http://schemas.microsoft.com/office/drawing/2014/main" id="{AF6AEE7F-E107-0B96-F99B-B97CD5B655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4241" y="4429157"/>
            <a:ext cx="495663" cy="570002"/>
          </a:xfrm>
          <a:prstGeom prst="rect">
            <a:avLst/>
          </a:prstGeom>
        </p:spPr>
      </p:pic>
      <p:pic>
        <p:nvPicPr>
          <p:cNvPr id="5" name="Graphic 2" descr="Checkmark with solid fill">
            <a:extLst>
              <a:ext uri="{FF2B5EF4-FFF2-40B4-BE49-F238E27FC236}">
                <a16:creationId xmlns:a16="http://schemas.microsoft.com/office/drawing/2014/main" id="{9F3E0EC1-EDE9-74CD-4180-8C84326C50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4241" y="2858693"/>
            <a:ext cx="495663" cy="570002"/>
          </a:xfrm>
          <a:prstGeom prst="rect">
            <a:avLst/>
          </a:prstGeom>
        </p:spPr>
      </p:pic>
      <p:sp>
        <p:nvSpPr>
          <p:cNvPr id="33" name="CasellaDiTesto 32">
            <a:extLst>
              <a:ext uri="{FF2B5EF4-FFF2-40B4-BE49-F238E27FC236}">
                <a16:creationId xmlns:a16="http://schemas.microsoft.com/office/drawing/2014/main" id="{A783352E-46B6-907C-B48E-1B93B2662B62}"/>
              </a:ext>
            </a:extLst>
          </p:cNvPr>
          <p:cNvSpPr txBox="1"/>
          <p:nvPr/>
        </p:nvSpPr>
        <p:spPr>
          <a:xfrm>
            <a:off x="6563162" y="3300488"/>
            <a:ext cx="4889693"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In addition: </a:t>
            </a:r>
          </a:p>
          <a:p>
            <a:endParaRPr lang="en-US">
              <a:ea typeface="Calibri"/>
              <a:cs typeface="Calibri"/>
            </a:endParaRPr>
          </a:p>
          <a:p>
            <a:pPr marL="285750" indent="-285750">
              <a:buFont typeface="Arial,Sans-Serif"/>
              <a:buChar char="•"/>
            </a:pPr>
            <a:r>
              <a:rPr lang="en-US">
                <a:ea typeface="Calibri"/>
                <a:cs typeface="Calibri"/>
              </a:rPr>
              <a:t>Test new samples, varying different parameters in both design and production.</a:t>
            </a:r>
            <a:endParaRPr lang="en-US">
              <a:ea typeface="Calibri"/>
              <a:cs typeface="Calibri"/>
            </a:endParaRPr>
          </a:p>
          <a:p>
            <a:pPr marL="285750" indent="-285750">
              <a:buFont typeface="Arial,Sans-Serif"/>
              <a:buChar char="•"/>
            </a:pPr>
            <a:endParaRPr lang="en-US">
              <a:ea typeface="Calibri"/>
              <a:cs typeface="Calibri"/>
            </a:endParaRPr>
          </a:p>
          <a:p>
            <a:pPr marL="285750" indent="-285750">
              <a:buFont typeface="Arial"/>
              <a:buChar char="•"/>
            </a:pPr>
            <a:r>
              <a:rPr lang="en-US">
                <a:ea typeface="Calibri"/>
                <a:cs typeface="Calibri"/>
              </a:rPr>
              <a:t>Run tests with autologous liver cells.</a:t>
            </a:r>
          </a:p>
          <a:p>
            <a:pPr marL="285750" indent="-285750">
              <a:buFont typeface="Arial"/>
              <a:buChar char="•"/>
            </a:pPr>
            <a:endParaRPr lang="en-US">
              <a:ea typeface="Calibri"/>
              <a:cs typeface="Calibri"/>
            </a:endParaRPr>
          </a:p>
          <a:p>
            <a:pPr marL="285750" indent="-285750">
              <a:buFont typeface="Arial"/>
              <a:buChar char="•"/>
            </a:pPr>
            <a:r>
              <a:rPr lang="en-US">
                <a:ea typeface="Calibri"/>
                <a:cs typeface="Calibri"/>
              </a:rPr>
              <a:t>Run in vivo tests.</a:t>
            </a:r>
          </a:p>
          <a:p>
            <a:pPr marL="285750" indent="-285750">
              <a:buFont typeface="Arial"/>
              <a:buChar char="•"/>
            </a:pPr>
            <a:endParaRPr lang="en-US">
              <a:ea typeface="Calibri"/>
              <a:cs typeface="Calibri"/>
            </a:endParaRPr>
          </a:p>
          <a:p>
            <a:pPr marL="285750" indent="-285750">
              <a:buFont typeface="Arial"/>
              <a:buChar char="•"/>
            </a:pPr>
            <a:r>
              <a:rPr lang="en-US">
                <a:latin typeface="Calibri"/>
                <a:ea typeface="Calibri"/>
                <a:cs typeface="Calibri"/>
              </a:rPr>
              <a:t>Verify production costs and times.</a:t>
            </a:r>
          </a:p>
          <a:p>
            <a:endParaRPr lang="en-US">
              <a:latin typeface="Calibri"/>
              <a:ea typeface="Calibri"/>
              <a:cs typeface="Calibri"/>
            </a:endParaRPr>
          </a:p>
        </p:txBody>
      </p:sp>
      <p:sp>
        <p:nvSpPr>
          <p:cNvPr id="6" name="Freccia destra 18">
            <a:extLst>
              <a:ext uri="{FF2B5EF4-FFF2-40B4-BE49-F238E27FC236}">
                <a16:creationId xmlns:a16="http://schemas.microsoft.com/office/drawing/2014/main" id="{4A00D3CE-A0FD-A52E-A63B-5FA9066CCCA9}"/>
              </a:ext>
            </a:extLst>
          </p:cNvPr>
          <p:cNvSpPr/>
          <p:nvPr/>
        </p:nvSpPr>
        <p:spPr>
          <a:xfrm flipV="1">
            <a:off x="4585214" y="1440718"/>
            <a:ext cx="1711821" cy="553488"/>
          </a:xfrm>
          <a:prstGeom prst="rightArrow">
            <a:avLst/>
          </a:prstGeom>
          <a:solidFill>
            <a:srgbClr val="DDC9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7716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03A2-08FD-FAE8-937B-6A8E995E2AA6}"/>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4112863B-A195-96D4-3065-5A242B0A7CC1}"/>
              </a:ext>
            </a:extLst>
          </p:cNvPr>
          <p:cNvSpPr txBox="1"/>
          <p:nvPr/>
        </p:nvSpPr>
        <p:spPr>
          <a:xfrm>
            <a:off x="368440" y="216556"/>
            <a:ext cx="11455120" cy="1415772"/>
          </a:xfrm>
          <a:prstGeom prst="rect">
            <a:avLst/>
          </a:prstGeom>
          <a:noFill/>
        </p:spPr>
        <p:txBody>
          <a:bodyPr wrap="square" lIns="91440" tIns="45720" rIns="91440" bIns="45720" rtlCol="0" anchor="t">
            <a:spAutoFit/>
          </a:bodyPr>
          <a:lstStyle/>
          <a:p>
            <a:r>
              <a:rPr lang="en-US" sz="4300" b="1">
                <a:solidFill>
                  <a:srgbClr val="435EB4"/>
                </a:solidFill>
                <a:latin typeface="Bangla MN"/>
                <a:ea typeface="Hiragino Kaku Gothic Std W8"/>
                <a:cs typeface="Bangla MN" pitchFamily="2" charset="0"/>
              </a:rPr>
              <a:t>REFERENCES</a:t>
            </a:r>
          </a:p>
          <a:p>
            <a:endParaRPr lang="en-US" sz="4300" b="1">
              <a:solidFill>
                <a:srgbClr val="435EB4"/>
              </a:solidFill>
              <a:latin typeface="Bangla MN"/>
              <a:ea typeface="Hiragino Kaku Gothic Std W8"/>
              <a:cs typeface="Bangla MN" pitchFamily="2" charset="0"/>
            </a:endParaRPr>
          </a:p>
        </p:txBody>
      </p:sp>
      <p:sp>
        <p:nvSpPr>
          <p:cNvPr id="11" name="TextBox 13">
            <a:extLst>
              <a:ext uri="{FF2B5EF4-FFF2-40B4-BE49-F238E27FC236}">
                <a16:creationId xmlns:a16="http://schemas.microsoft.com/office/drawing/2014/main" id="{C8F608E4-311A-3824-8ACF-941F39DC1E25}"/>
              </a:ext>
            </a:extLst>
          </p:cNvPr>
          <p:cNvSpPr txBox="1"/>
          <p:nvPr/>
        </p:nvSpPr>
        <p:spPr>
          <a:xfrm>
            <a:off x="3834531" y="4949056"/>
            <a:ext cx="119776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FFFFFF"/>
                </a:solidFill>
                <a:latin typeface="Bangla MN" pitchFamily="2" charset="0"/>
                <a:cs typeface="Bangla MN" pitchFamily="2" charset="0"/>
              </a:rPr>
              <a:t>AMBIENT</a:t>
            </a:r>
          </a:p>
        </p:txBody>
      </p:sp>
      <p:sp>
        <p:nvSpPr>
          <p:cNvPr id="3" name="CasellaDiTesto 2">
            <a:extLst>
              <a:ext uri="{FF2B5EF4-FFF2-40B4-BE49-F238E27FC236}">
                <a16:creationId xmlns:a16="http://schemas.microsoft.com/office/drawing/2014/main" id="{2A2AD825-DB66-FFB0-9CA9-C4CCB3CD5413}"/>
              </a:ext>
            </a:extLst>
          </p:cNvPr>
          <p:cNvSpPr txBox="1"/>
          <p:nvPr/>
        </p:nvSpPr>
        <p:spPr>
          <a:xfrm>
            <a:off x="368440" y="924442"/>
            <a:ext cx="10924400" cy="5262979"/>
          </a:xfrm>
          <a:prstGeom prst="rect">
            <a:avLst/>
          </a:prstGeom>
          <a:noFill/>
        </p:spPr>
        <p:txBody>
          <a:bodyPr wrap="square" rtlCol="0">
            <a:spAutoFit/>
          </a:bodyPr>
          <a:lstStyle/>
          <a:p>
            <a:r>
              <a:rPr lang="en-US" sz="1200" b="0" i="1" err="1">
                <a:solidFill>
                  <a:srgbClr val="212121"/>
                </a:solidFill>
                <a:effectLst/>
              </a:rPr>
              <a:t>Vazirzadeh</a:t>
            </a:r>
            <a:r>
              <a:rPr lang="en-US" sz="1200" b="0" i="1">
                <a:solidFill>
                  <a:srgbClr val="212121"/>
                </a:solidFill>
                <a:effectLst/>
              </a:rPr>
              <a:t>, </a:t>
            </a:r>
            <a:r>
              <a:rPr lang="en-US" sz="1200" b="0" i="1" err="1">
                <a:solidFill>
                  <a:srgbClr val="212121"/>
                </a:solidFill>
                <a:effectLst/>
              </a:rPr>
              <a:t>Masoud</a:t>
            </a:r>
            <a:r>
              <a:rPr lang="en-US" sz="1200" b="0" i="1">
                <a:solidFill>
                  <a:srgbClr val="212121"/>
                </a:solidFill>
                <a:effectLst/>
              </a:rPr>
              <a:t> et al. “Natural Scaffolds </a:t>
            </a:r>
            <a:r>
              <a:rPr lang="en-US" sz="1200" b="0" i="1" err="1">
                <a:solidFill>
                  <a:srgbClr val="212121"/>
                </a:solidFill>
                <a:effectLst/>
              </a:rPr>
              <a:t>Used</a:t>
            </a:r>
            <a:r>
              <a:rPr lang="en-US" sz="1200" b="0" i="1">
                <a:solidFill>
                  <a:srgbClr val="212121"/>
                </a:solidFill>
                <a:effectLst/>
              </a:rPr>
              <a:t> for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Regeneration</a:t>
            </a:r>
            <a:r>
              <a:rPr lang="en-US" sz="1200" b="0" i="1">
                <a:solidFill>
                  <a:srgbClr val="212121"/>
                </a:solidFill>
                <a:effectLst/>
              </a:rPr>
              <a:t>: A Narrative Update.” Stem </a:t>
            </a:r>
            <a:r>
              <a:rPr lang="en-US" sz="1200" b="0" i="1" err="1">
                <a:solidFill>
                  <a:srgbClr val="212121"/>
                </a:solidFill>
                <a:effectLst/>
              </a:rPr>
              <a:t>cell</a:t>
            </a:r>
            <a:r>
              <a:rPr lang="en-US" sz="1200" b="0" i="1">
                <a:solidFill>
                  <a:srgbClr val="212121"/>
                </a:solidFill>
                <a:effectLst/>
              </a:rPr>
              <a:t> reviews and reports vol. 18,7 (2022): 2262-2278. doi:10.1007/s12015-022-10362-8</a:t>
            </a:r>
          </a:p>
          <a:p>
            <a:endParaRPr lang="en-US" sz="1200" i="1">
              <a:solidFill>
                <a:srgbClr val="212121"/>
              </a:solidFill>
            </a:endParaRPr>
          </a:p>
          <a:p>
            <a:r>
              <a:rPr lang="en-US" sz="1200" b="0" i="1">
                <a:solidFill>
                  <a:srgbClr val="212121"/>
                </a:solidFill>
                <a:effectLst/>
              </a:rPr>
              <a:t>Lacombe, Jerome et al. “Plant-</a:t>
            </a:r>
            <a:r>
              <a:rPr lang="en-US" sz="1200" b="0" i="1" err="1">
                <a:solidFill>
                  <a:srgbClr val="212121"/>
                </a:solidFill>
                <a:effectLst/>
              </a:rPr>
              <a:t>Based</a:t>
            </a:r>
            <a:r>
              <a:rPr lang="en-US" sz="1200" b="0" i="1">
                <a:solidFill>
                  <a:srgbClr val="212121"/>
                </a:solidFill>
                <a:effectLst/>
              </a:rPr>
              <a:t> Scaffolds </a:t>
            </a:r>
            <a:r>
              <a:rPr lang="en-US" sz="1200" b="0" i="1" err="1">
                <a:solidFill>
                  <a:srgbClr val="212121"/>
                </a:solidFill>
                <a:effectLst/>
              </a:rPr>
              <a:t>Modify</a:t>
            </a:r>
            <a:r>
              <a:rPr lang="en-US" sz="1200" b="0" i="1">
                <a:solidFill>
                  <a:srgbClr val="212121"/>
                </a:solidFill>
                <a:effectLst/>
              </a:rPr>
              <a:t> Cellular </a:t>
            </a:r>
            <a:r>
              <a:rPr lang="en-US" sz="1200" b="0" i="1" err="1">
                <a:solidFill>
                  <a:srgbClr val="212121"/>
                </a:solidFill>
                <a:effectLst/>
              </a:rPr>
              <a:t>Response</a:t>
            </a:r>
            <a:r>
              <a:rPr lang="en-US" sz="1200" b="0" i="1">
                <a:solidFill>
                  <a:srgbClr val="212121"/>
                </a:solidFill>
                <a:effectLst/>
              </a:rPr>
              <a:t> to Drug and </a:t>
            </a:r>
            <a:r>
              <a:rPr lang="en-US" sz="1200" b="0" i="1" err="1">
                <a:solidFill>
                  <a:srgbClr val="212121"/>
                </a:solidFill>
                <a:effectLst/>
              </a:rPr>
              <a:t>Radiation</a:t>
            </a:r>
            <a:r>
              <a:rPr lang="en-US" sz="1200" b="0" i="1">
                <a:solidFill>
                  <a:srgbClr val="212121"/>
                </a:solidFill>
                <a:effectLst/>
              </a:rPr>
              <a:t> </a:t>
            </a:r>
            <a:r>
              <a:rPr lang="en-US" sz="1200" b="0" i="1" err="1">
                <a:solidFill>
                  <a:srgbClr val="212121"/>
                </a:solidFill>
                <a:effectLst/>
              </a:rPr>
              <a:t>Exposure</a:t>
            </a:r>
            <a:r>
              <a:rPr lang="en-US" sz="1200" b="0" i="1">
                <a:solidFill>
                  <a:srgbClr val="212121"/>
                </a:solidFill>
                <a:effectLst/>
              </a:rPr>
              <a:t> </a:t>
            </a:r>
            <a:r>
              <a:rPr lang="en-US" sz="1200" b="0" i="1" err="1">
                <a:solidFill>
                  <a:srgbClr val="212121"/>
                </a:solidFill>
                <a:effectLst/>
              </a:rPr>
              <a:t>Compared</a:t>
            </a:r>
            <a:r>
              <a:rPr lang="en-US" sz="1200" b="0" i="1">
                <a:solidFill>
                  <a:srgbClr val="212121"/>
                </a:solidFill>
                <a:effectLst/>
              </a:rPr>
              <a:t> to Standard Cell Culture Models.” </a:t>
            </a:r>
            <a:r>
              <a:rPr lang="en-US" sz="1200" b="0" i="1" err="1">
                <a:solidFill>
                  <a:srgbClr val="212121"/>
                </a:solidFill>
                <a:effectLst/>
              </a:rPr>
              <a:t>Frontiers</a:t>
            </a:r>
            <a:r>
              <a:rPr lang="en-US" sz="1200" b="0" i="1">
                <a:solidFill>
                  <a:srgbClr val="212121"/>
                </a:solidFill>
                <a:effectLst/>
              </a:rPr>
              <a:t> in </a:t>
            </a:r>
            <a:r>
              <a:rPr lang="en-US" sz="1200" b="0" i="1" err="1">
                <a:solidFill>
                  <a:srgbClr val="212121"/>
                </a:solidFill>
                <a:effectLst/>
              </a:rPr>
              <a:t>bioengineering</a:t>
            </a:r>
            <a:r>
              <a:rPr lang="en-US" sz="1200" b="0" i="1">
                <a:solidFill>
                  <a:srgbClr val="212121"/>
                </a:solidFill>
                <a:effectLst/>
              </a:rPr>
              <a:t> and </a:t>
            </a:r>
            <a:r>
              <a:rPr lang="en-US" sz="1200" b="0" i="1" err="1">
                <a:solidFill>
                  <a:srgbClr val="212121"/>
                </a:solidFill>
                <a:effectLst/>
              </a:rPr>
              <a:t>biotechnology</a:t>
            </a:r>
            <a:r>
              <a:rPr lang="en-US" sz="1200" b="0" i="1">
                <a:solidFill>
                  <a:srgbClr val="212121"/>
                </a:solidFill>
                <a:effectLst/>
              </a:rPr>
              <a:t> vol. 8 932. 7 </a:t>
            </a:r>
            <a:r>
              <a:rPr lang="en-US" sz="1200" b="0" i="1" err="1">
                <a:solidFill>
                  <a:srgbClr val="212121"/>
                </a:solidFill>
                <a:effectLst/>
              </a:rPr>
              <a:t>Aug</a:t>
            </a:r>
            <a:r>
              <a:rPr lang="en-US" sz="1200" b="0" i="1">
                <a:solidFill>
                  <a:srgbClr val="212121"/>
                </a:solidFill>
                <a:effectLst/>
              </a:rPr>
              <a:t>. 2020, doi:10.3389/fbioe.2020.00932</a:t>
            </a:r>
          </a:p>
          <a:p>
            <a:endParaRPr lang="en-US" sz="1200" i="1">
              <a:solidFill>
                <a:srgbClr val="212121"/>
              </a:solidFill>
            </a:endParaRPr>
          </a:p>
          <a:p>
            <a:r>
              <a:rPr lang="en-US" sz="1200" b="0" i="1">
                <a:solidFill>
                  <a:srgbClr val="212121"/>
                </a:solidFill>
                <a:effectLst/>
              </a:rPr>
              <a:t>Harris, </a:t>
            </a:r>
            <a:r>
              <a:rPr lang="en-US" sz="1200" b="0" i="1" err="1">
                <a:solidFill>
                  <a:srgbClr val="212121"/>
                </a:solidFill>
                <a:effectLst/>
              </a:rPr>
              <a:t>Ashlee</a:t>
            </a:r>
            <a:r>
              <a:rPr lang="en-US" sz="1200" b="0" i="1">
                <a:solidFill>
                  <a:srgbClr val="212121"/>
                </a:solidFill>
                <a:effectLst/>
              </a:rPr>
              <a:t> </a:t>
            </a:r>
            <a:r>
              <a:rPr lang="en-US" sz="1200" b="0" i="1" err="1">
                <a:solidFill>
                  <a:srgbClr val="212121"/>
                </a:solidFill>
                <a:effectLst/>
              </a:rPr>
              <a:t>F</a:t>
            </a:r>
            <a:r>
              <a:rPr lang="en-US" sz="1200" b="0" i="1">
                <a:solidFill>
                  <a:srgbClr val="212121"/>
                </a:solidFill>
                <a:effectLst/>
              </a:rPr>
              <a:t> et al. “The </a:t>
            </a:r>
            <a:r>
              <a:rPr lang="en-US" sz="1200" b="0" i="1" err="1">
                <a:solidFill>
                  <a:srgbClr val="212121"/>
                </a:solidFill>
                <a:effectLst/>
              </a:rPr>
              <a:t>Emerging</a:t>
            </a:r>
            <a:r>
              <a:rPr lang="en-US" sz="1200" b="0" i="1">
                <a:solidFill>
                  <a:srgbClr val="212121"/>
                </a:solidFill>
                <a:effectLst/>
              </a:rPr>
              <a:t> </a:t>
            </a:r>
            <a:r>
              <a:rPr lang="en-US" sz="1200" b="0" i="1" err="1">
                <a:solidFill>
                  <a:srgbClr val="212121"/>
                </a:solidFill>
                <a:effectLst/>
              </a:rPr>
              <a:t>Role</a:t>
            </a:r>
            <a:r>
              <a:rPr lang="en-US" sz="1200" b="0" i="1">
                <a:solidFill>
                  <a:srgbClr val="212121"/>
                </a:solidFill>
                <a:effectLst/>
              </a:rPr>
              <a:t> of </a:t>
            </a:r>
            <a:r>
              <a:rPr lang="en-US" sz="1200" b="0" i="1" err="1">
                <a:solidFill>
                  <a:srgbClr val="212121"/>
                </a:solidFill>
                <a:effectLst/>
              </a:rPr>
              <a:t>Decellularized</a:t>
            </a:r>
            <a:r>
              <a:rPr lang="en-US" sz="1200" b="0" i="1">
                <a:solidFill>
                  <a:srgbClr val="212121"/>
                </a:solidFill>
                <a:effectLst/>
              </a:rPr>
              <a:t> Plant-</a:t>
            </a:r>
            <a:r>
              <a:rPr lang="en-US" sz="1200" b="0" i="1" err="1">
                <a:solidFill>
                  <a:srgbClr val="212121"/>
                </a:solidFill>
                <a:effectLst/>
              </a:rPr>
              <a:t>Based</a:t>
            </a:r>
            <a:r>
              <a:rPr lang="en-US" sz="1200" b="0" i="1">
                <a:solidFill>
                  <a:srgbClr val="212121"/>
                </a:solidFill>
                <a:effectLst/>
              </a:rPr>
              <a:t> Scaffolds </a:t>
            </a:r>
            <a:r>
              <a:rPr lang="en-US" sz="1200" b="0" i="1" err="1">
                <a:solidFill>
                  <a:srgbClr val="212121"/>
                </a:solidFill>
                <a:effectLst/>
              </a:rPr>
              <a:t>as</a:t>
            </a:r>
            <a:r>
              <a:rPr lang="en-US" sz="1200" b="0" i="1">
                <a:solidFill>
                  <a:srgbClr val="212121"/>
                </a:solidFill>
                <a:effectLst/>
              </a:rPr>
              <a:t> a New </a:t>
            </a:r>
            <a:r>
              <a:rPr lang="en-US" sz="1200" b="0" i="1" err="1">
                <a:solidFill>
                  <a:srgbClr val="212121"/>
                </a:solidFill>
                <a:effectLst/>
              </a:rPr>
              <a:t>Biomaterial</a:t>
            </a:r>
            <a:r>
              <a:rPr lang="en-US" sz="1200" b="0" i="1">
                <a:solidFill>
                  <a:srgbClr val="212121"/>
                </a:solidFill>
                <a:effectLst/>
              </a:rPr>
              <a:t>.” International journal of </a:t>
            </a:r>
            <a:r>
              <a:rPr lang="en-US" sz="1200" b="0" i="1" err="1">
                <a:solidFill>
                  <a:srgbClr val="212121"/>
                </a:solidFill>
                <a:effectLst/>
              </a:rPr>
              <a:t>molecular</a:t>
            </a:r>
            <a:r>
              <a:rPr lang="en-US" sz="1200" b="0" i="1">
                <a:solidFill>
                  <a:srgbClr val="212121"/>
                </a:solidFill>
                <a:effectLst/>
              </a:rPr>
              <a:t> sciences vol. 22,22 12347. 16 Nov. 2021, doi:10.3390/ijms222212347</a:t>
            </a:r>
          </a:p>
          <a:p>
            <a:endParaRPr lang="en-US" sz="1200" i="1">
              <a:solidFill>
                <a:srgbClr val="212121"/>
              </a:solidFill>
            </a:endParaRPr>
          </a:p>
          <a:p>
            <a:r>
              <a:rPr lang="en-US" sz="1200" b="0" i="1" err="1">
                <a:solidFill>
                  <a:srgbClr val="212121"/>
                </a:solidFill>
                <a:effectLst/>
              </a:rPr>
              <a:t>Limaye</a:t>
            </a:r>
            <a:r>
              <a:rPr lang="en-US" sz="1200" b="0" i="1">
                <a:solidFill>
                  <a:srgbClr val="212121"/>
                </a:solidFill>
                <a:effectLst/>
              </a:rPr>
              <a:t>, </a:t>
            </a:r>
            <a:r>
              <a:rPr lang="en-US" sz="1200" b="0" i="1" err="1">
                <a:solidFill>
                  <a:srgbClr val="212121"/>
                </a:solidFill>
                <a:effectLst/>
              </a:rPr>
              <a:t>Apurva</a:t>
            </a:r>
            <a:r>
              <a:rPr lang="en-US" sz="1200" b="0" i="1">
                <a:solidFill>
                  <a:srgbClr val="212121"/>
                </a:solidFill>
                <a:effectLst/>
              </a:rPr>
              <a:t> et al. “Plant-</a:t>
            </a:r>
            <a:r>
              <a:rPr lang="en-US" sz="1200" b="0" i="1" err="1">
                <a:solidFill>
                  <a:srgbClr val="212121"/>
                </a:solidFill>
                <a:effectLst/>
              </a:rPr>
              <a:t>Derived</a:t>
            </a:r>
            <a:r>
              <a:rPr lang="en-US" sz="1200" b="0" i="1">
                <a:solidFill>
                  <a:srgbClr val="212121"/>
                </a:solidFill>
                <a:effectLst/>
              </a:rPr>
              <a:t> </a:t>
            </a:r>
            <a:r>
              <a:rPr lang="en-US" sz="1200" b="0" i="1" err="1">
                <a:solidFill>
                  <a:srgbClr val="212121"/>
                </a:solidFill>
                <a:effectLst/>
              </a:rPr>
              <a:t>Zein</a:t>
            </a:r>
            <a:r>
              <a:rPr lang="en-US" sz="1200" b="0" i="1">
                <a:solidFill>
                  <a:srgbClr val="212121"/>
                </a:solidFill>
                <a:effectLst/>
              </a:rPr>
              <a:t> </a:t>
            </a:r>
            <a:r>
              <a:rPr lang="en-US" sz="1200" b="0" i="1" err="1">
                <a:solidFill>
                  <a:srgbClr val="212121"/>
                </a:solidFill>
                <a:effectLst/>
              </a:rPr>
              <a:t>as</a:t>
            </a:r>
            <a:r>
              <a:rPr lang="en-US" sz="1200" b="0" i="1">
                <a:solidFill>
                  <a:srgbClr val="212121"/>
                </a:solidFill>
                <a:effectLst/>
              </a:rPr>
              <a:t> an Alternative to Animal-</a:t>
            </a:r>
            <a:r>
              <a:rPr lang="en-US" sz="1200" b="0" i="1" err="1">
                <a:solidFill>
                  <a:srgbClr val="212121"/>
                </a:solidFill>
                <a:effectLst/>
              </a:rPr>
              <a:t>Derived</a:t>
            </a:r>
            <a:r>
              <a:rPr lang="en-US" sz="1200" b="0" i="1">
                <a:solidFill>
                  <a:srgbClr val="212121"/>
                </a:solidFill>
                <a:effectLst/>
              </a:rPr>
              <a:t> </a:t>
            </a:r>
            <a:r>
              <a:rPr lang="en-US" sz="1200" b="0" i="1" err="1">
                <a:solidFill>
                  <a:srgbClr val="212121"/>
                </a:solidFill>
                <a:effectLst/>
              </a:rPr>
              <a:t>Gelatin</a:t>
            </a:r>
            <a:r>
              <a:rPr lang="en-US" sz="1200" b="0" i="1">
                <a:solidFill>
                  <a:srgbClr val="212121"/>
                </a:solidFill>
                <a:effectLst/>
              </a:rPr>
              <a:t> for Use </a:t>
            </a:r>
            <a:r>
              <a:rPr lang="en-US" sz="1200" b="0" i="1" err="1">
                <a:solidFill>
                  <a:srgbClr val="212121"/>
                </a:solidFill>
                <a:effectLst/>
              </a:rPr>
              <a:t>as</a:t>
            </a:r>
            <a:r>
              <a:rPr lang="en-US" sz="1200" b="0" i="1">
                <a:solidFill>
                  <a:srgbClr val="212121"/>
                </a:solidFill>
                <a:effectLst/>
              </a:rPr>
              <a:t> a </a:t>
            </a:r>
            <a:r>
              <a:rPr lang="en-US" sz="1200" b="0" i="1" err="1">
                <a:solidFill>
                  <a:srgbClr val="212121"/>
                </a:solidFill>
                <a:effectLst/>
              </a:rPr>
              <a:t>Tissue</a:t>
            </a:r>
            <a:r>
              <a:rPr lang="en-US" sz="1200" b="0" i="1">
                <a:solidFill>
                  <a:srgbClr val="212121"/>
                </a:solidFill>
                <a:effectLst/>
              </a:rPr>
              <a:t> Engineering Scaffold.” Advanced </a:t>
            </a:r>
            <a:r>
              <a:rPr lang="en-US" sz="1200" b="0" i="1" err="1">
                <a:solidFill>
                  <a:srgbClr val="212121"/>
                </a:solidFill>
                <a:effectLst/>
              </a:rPr>
              <a:t>nanobiomed</a:t>
            </a:r>
            <a:r>
              <a:rPr lang="en-US" sz="1200" b="0" i="1">
                <a:solidFill>
                  <a:srgbClr val="212121"/>
                </a:solidFill>
                <a:effectLst/>
              </a:rPr>
              <a:t> </a:t>
            </a:r>
            <a:r>
              <a:rPr lang="en-US" sz="1200" b="0" i="1" err="1">
                <a:solidFill>
                  <a:srgbClr val="212121"/>
                </a:solidFill>
                <a:effectLst/>
              </a:rPr>
              <a:t>research</a:t>
            </a:r>
            <a:r>
              <a:rPr lang="en-US" sz="1200" b="0" i="1">
                <a:solidFill>
                  <a:srgbClr val="212121"/>
                </a:solidFill>
                <a:effectLst/>
              </a:rPr>
              <a:t> vol. 4,3 (2024): 2300104. doi:10.1002/anbr.202300104</a:t>
            </a:r>
          </a:p>
          <a:p>
            <a:endParaRPr lang="en-US" sz="1200" i="1">
              <a:solidFill>
                <a:srgbClr val="212121"/>
              </a:solidFill>
            </a:endParaRPr>
          </a:p>
          <a:p>
            <a:r>
              <a:rPr lang="en-US" sz="1200" b="0" i="1">
                <a:solidFill>
                  <a:srgbClr val="212121"/>
                </a:solidFill>
                <a:effectLst/>
              </a:rPr>
              <a:t>Jian, </a:t>
            </a:r>
            <a:r>
              <a:rPr lang="en-US" sz="1200" b="0" i="1" err="1">
                <a:solidFill>
                  <a:srgbClr val="212121"/>
                </a:solidFill>
                <a:effectLst/>
              </a:rPr>
              <a:t>Honglei</a:t>
            </a:r>
            <a:r>
              <a:rPr lang="en-US" sz="1200" b="0" i="1">
                <a:solidFill>
                  <a:srgbClr val="212121"/>
                </a:solidFill>
                <a:effectLst/>
              </a:rPr>
              <a:t> et al. “In vitro </a:t>
            </a:r>
            <a:r>
              <a:rPr lang="en-US" sz="1200" b="0" i="1" err="1">
                <a:solidFill>
                  <a:srgbClr val="212121"/>
                </a:solidFill>
                <a:effectLst/>
              </a:rPr>
              <a:t>construction</a:t>
            </a:r>
            <a:r>
              <a:rPr lang="en-US" sz="1200" b="0" i="1">
                <a:solidFill>
                  <a:srgbClr val="212121"/>
                </a:solidFill>
                <a:effectLst/>
              </a:rPr>
              <a:t> of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organoids</a:t>
            </a:r>
            <a:r>
              <a:rPr lang="en-US" sz="1200" b="0" i="1">
                <a:solidFill>
                  <a:srgbClr val="212121"/>
                </a:solidFill>
                <a:effectLst/>
              </a:rPr>
              <a:t> with </a:t>
            </a:r>
            <a:r>
              <a:rPr lang="en-US" sz="1200" b="0" i="1" err="1">
                <a:solidFill>
                  <a:srgbClr val="212121"/>
                </a:solidFill>
                <a:effectLst/>
              </a:rPr>
              <a:t>biomimetic</a:t>
            </a:r>
            <a:r>
              <a:rPr lang="en-US" sz="1200" b="0" i="1">
                <a:solidFill>
                  <a:srgbClr val="212121"/>
                </a:solidFill>
                <a:effectLst/>
              </a:rPr>
              <a:t> </a:t>
            </a:r>
            <a:r>
              <a:rPr lang="en-US" sz="1200" b="0" i="1" err="1">
                <a:solidFill>
                  <a:srgbClr val="212121"/>
                </a:solidFill>
                <a:effectLst/>
              </a:rPr>
              <a:t>lobule</a:t>
            </a:r>
            <a:r>
              <a:rPr lang="en-US" sz="1200" b="0" i="1">
                <a:solidFill>
                  <a:srgbClr val="212121"/>
                </a:solidFill>
                <a:effectLst/>
              </a:rPr>
              <a:t> </a:t>
            </a:r>
            <a:r>
              <a:rPr lang="en-US" sz="1200" b="0" i="1" err="1">
                <a:solidFill>
                  <a:srgbClr val="212121"/>
                </a:solidFill>
                <a:effectLst/>
              </a:rPr>
              <a:t>structure</a:t>
            </a:r>
            <a:r>
              <a:rPr lang="en-US" sz="1200" b="0" i="1">
                <a:solidFill>
                  <a:srgbClr val="212121"/>
                </a:solidFill>
                <a:effectLst/>
              </a:rPr>
              <a:t> by a </a:t>
            </a:r>
            <a:r>
              <a:rPr lang="en-US" sz="1200" b="0" i="1" err="1">
                <a:solidFill>
                  <a:srgbClr val="212121"/>
                </a:solidFill>
                <a:effectLst/>
              </a:rPr>
              <a:t>multicellular</a:t>
            </a:r>
            <a:r>
              <a:rPr lang="en-US" sz="1200" b="0" i="1">
                <a:solidFill>
                  <a:srgbClr val="212121"/>
                </a:solidFill>
                <a:effectLst/>
              </a:rPr>
              <a:t> 3D </a:t>
            </a:r>
            <a:r>
              <a:rPr lang="en-US" sz="1200" b="0" i="1" err="1">
                <a:solidFill>
                  <a:srgbClr val="212121"/>
                </a:solidFill>
                <a:effectLst/>
              </a:rPr>
              <a:t>bioprinting</a:t>
            </a:r>
            <a:r>
              <a:rPr lang="en-US" sz="1200" b="0" i="1">
                <a:solidFill>
                  <a:srgbClr val="212121"/>
                </a:solidFill>
                <a:effectLst/>
              </a:rPr>
              <a:t> strategy.” Cell </a:t>
            </a:r>
            <a:r>
              <a:rPr lang="en-US" sz="1200" b="0" i="1" err="1">
                <a:solidFill>
                  <a:srgbClr val="212121"/>
                </a:solidFill>
                <a:effectLst/>
              </a:rPr>
              <a:t>proliferation</a:t>
            </a:r>
            <a:r>
              <a:rPr lang="en-US" sz="1200" b="0" i="1">
                <a:solidFill>
                  <a:srgbClr val="212121"/>
                </a:solidFill>
                <a:effectLst/>
              </a:rPr>
              <a:t> vol. 56,5 (2023): e13465. doi:10.1111/cpr.13465</a:t>
            </a:r>
          </a:p>
          <a:p>
            <a:endParaRPr lang="en-US" sz="1200" i="1">
              <a:solidFill>
                <a:srgbClr val="212121"/>
              </a:solidFill>
            </a:endParaRPr>
          </a:p>
          <a:p>
            <a:r>
              <a:rPr lang="en-US" sz="1200" b="0" i="1">
                <a:solidFill>
                  <a:srgbClr val="212121"/>
                </a:solidFill>
                <a:effectLst/>
              </a:rPr>
              <a:t>Hosseini, Vahid et al. “</a:t>
            </a:r>
            <a:r>
              <a:rPr lang="en-US" sz="1200" b="0" i="1" err="1">
                <a:solidFill>
                  <a:srgbClr val="212121"/>
                </a:solidFill>
                <a:effectLst/>
              </a:rPr>
              <a:t>Current</a:t>
            </a:r>
            <a:r>
              <a:rPr lang="en-US" sz="1200" b="0" i="1">
                <a:solidFill>
                  <a:srgbClr val="212121"/>
                </a:solidFill>
                <a:effectLst/>
              </a:rPr>
              <a:t> progress in </a:t>
            </a:r>
            <a:r>
              <a:rPr lang="en-US" sz="1200" b="0" i="1" err="1">
                <a:solidFill>
                  <a:srgbClr val="212121"/>
                </a:solidFill>
                <a:effectLst/>
              </a:rPr>
              <a:t>hepatic</a:t>
            </a:r>
            <a:r>
              <a:rPr lang="en-US" sz="1200" b="0" i="1">
                <a:solidFill>
                  <a:srgbClr val="212121"/>
                </a:solidFill>
                <a:effectLst/>
              </a:rPr>
              <a:t> </a:t>
            </a:r>
            <a:r>
              <a:rPr lang="en-US" sz="1200" b="0" i="1" err="1">
                <a:solidFill>
                  <a:srgbClr val="212121"/>
                </a:solidFill>
                <a:effectLst/>
              </a:rPr>
              <a:t>tissue</a:t>
            </a:r>
            <a:r>
              <a:rPr lang="en-US" sz="1200" b="0" i="1">
                <a:solidFill>
                  <a:srgbClr val="212121"/>
                </a:solidFill>
                <a:effectLst/>
              </a:rPr>
              <a:t> </a:t>
            </a:r>
            <a:r>
              <a:rPr lang="en-US" sz="1200" b="0" i="1" err="1">
                <a:solidFill>
                  <a:srgbClr val="212121"/>
                </a:solidFill>
                <a:effectLst/>
              </a:rPr>
              <a:t>regeneration</a:t>
            </a:r>
            <a:r>
              <a:rPr lang="en-US" sz="1200" b="0" i="1">
                <a:solidFill>
                  <a:srgbClr val="212121"/>
                </a:solidFill>
                <a:effectLst/>
              </a:rPr>
              <a:t> by </a:t>
            </a:r>
            <a:r>
              <a:rPr lang="en-US" sz="1200" b="0" i="1" err="1">
                <a:solidFill>
                  <a:srgbClr val="212121"/>
                </a:solidFill>
                <a:effectLst/>
              </a:rPr>
              <a:t>tissue</a:t>
            </a:r>
            <a:r>
              <a:rPr lang="en-US" sz="1200" b="0" i="1">
                <a:solidFill>
                  <a:srgbClr val="212121"/>
                </a:solidFill>
                <a:effectLst/>
              </a:rPr>
              <a:t> engineering.” Journal of </a:t>
            </a:r>
            <a:r>
              <a:rPr lang="en-US" sz="1200" b="0" i="1" err="1">
                <a:solidFill>
                  <a:srgbClr val="212121"/>
                </a:solidFill>
                <a:effectLst/>
              </a:rPr>
              <a:t>translational</a:t>
            </a:r>
            <a:r>
              <a:rPr lang="en-US" sz="1200" b="0" i="1">
                <a:solidFill>
                  <a:srgbClr val="212121"/>
                </a:solidFill>
                <a:effectLst/>
              </a:rPr>
              <a:t> medicine vol. 17,1 383. 21 Nov. 2019, doi:10.1186/s12967-019-02137-6</a:t>
            </a:r>
          </a:p>
          <a:p>
            <a:endParaRPr lang="en-US" sz="1200" i="1">
              <a:solidFill>
                <a:srgbClr val="212121"/>
              </a:solidFill>
            </a:endParaRPr>
          </a:p>
          <a:p>
            <a:r>
              <a:rPr lang="en-US" sz="1200" b="0" i="1" err="1">
                <a:solidFill>
                  <a:srgbClr val="212121"/>
                </a:solidFill>
                <a:effectLst/>
              </a:rPr>
              <a:t>Kulig</a:t>
            </a:r>
            <a:r>
              <a:rPr lang="en-US" sz="1200" b="0" i="1">
                <a:solidFill>
                  <a:srgbClr val="212121"/>
                </a:solidFill>
                <a:effectLst/>
              </a:rPr>
              <a:t>, Katherine M, and Joseph </a:t>
            </a:r>
            <a:r>
              <a:rPr lang="en-US" sz="1200" b="0" i="1" err="1">
                <a:solidFill>
                  <a:srgbClr val="212121"/>
                </a:solidFill>
                <a:effectLst/>
              </a:rPr>
              <a:t>P</a:t>
            </a:r>
            <a:r>
              <a:rPr lang="en-US" sz="1200" b="0" i="1">
                <a:solidFill>
                  <a:srgbClr val="212121"/>
                </a:solidFill>
                <a:effectLst/>
              </a:rPr>
              <a:t> Vacanti. “</a:t>
            </a:r>
            <a:r>
              <a:rPr lang="en-US" sz="1200" b="0" i="1" err="1">
                <a:solidFill>
                  <a:srgbClr val="212121"/>
                </a:solidFill>
                <a:effectLst/>
              </a:rPr>
              <a:t>Hepatic</a:t>
            </a:r>
            <a:r>
              <a:rPr lang="en-US" sz="1200" b="0" i="1">
                <a:solidFill>
                  <a:srgbClr val="212121"/>
                </a:solidFill>
                <a:effectLst/>
              </a:rPr>
              <a:t> </a:t>
            </a:r>
            <a:r>
              <a:rPr lang="en-US" sz="1200" b="0" i="1" err="1">
                <a:solidFill>
                  <a:srgbClr val="212121"/>
                </a:solidFill>
                <a:effectLst/>
              </a:rPr>
              <a:t>tissue</a:t>
            </a:r>
            <a:r>
              <a:rPr lang="en-US" sz="1200" b="0" i="1">
                <a:solidFill>
                  <a:srgbClr val="212121"/>
                </a:solidFill>
                <a:effectLst/>
              </a:rPr>
              <a:t> engineering.” </a:t>
            </a:r>
            <a:r>
              <a:rPr lang="en-US" sz="1200" b="0" i="1" err="1">
                <a:solidFill>
                  <a:srgbClr val="212121"/>
                </a:solidFill>
                <a:effectLst/>
              </a:rPr>
              <a:t>Transplant</a:t>
            </a:r>
            <a:r>
              <a:rPr lang="en-US" sz="1200" b="0" i="1">
                <a:solidFill>
                  <a:srgbClr val="212121"/>
                </a:solidFill>
                <a:effectLst/>
              </a:rPr>
              <a:t> </a:t>
            </a:r>
            <a:r>
              <a:rPr lang="en-US" sz="1200" b="0" i="1" err="1">
                <a:solidFill>
                  <a:srgbClr val="212121"/>
                </a:solidFill>
                <a:effectLst/>
              </a:rPr>
              <a:t>immunology</a:t>
            </a:r>
            <a:r>
              <a:rPr lang="en-US" sz="1200" b="0" i="1">
                <a:solidFill>
                  <a:srgbClr val="212121"/>
                </a:solidFill>
                <a:effectLst/>
              </a:rPr>
              <a:t> vol. 12,3-4 (2004): 303-10. doi:10.1016/j.trim.2003.12.005</a:t>
            </a:r>
          </a:p>
          <a:p>
            <a:endParaRPr lang="en-US" sz="1200" i="1">
              <a:solidFill>
                <a:srgbClr val="212121"/>
              </a:solidFill>
            </a:endParaRPr>
          </a:p>
          <a:p>
            <a:r>
              <a:rPr lang="en-US" sz="1200" b="0" i="1" err="1">
                <a:solidFill>
                  <a:srgbClr val="212121"/>
                </a:solidFill>
                <a:effectLst/>
              </a:rPr>
              <a:t>Vasudevan</a:t>
            </a:r>
            <a:r>
              <a:rPr lang="en-US" sz="1200" b="0" i="1">
                <a:solidFill>
                  <a:srgbClr val="212121"/>
                </a:solidFill>
                <a:effectLst/>
              </a:rPr>
              <a:t>, </a:t>
            </a:r>
            <a:r>
              <a:rPr lang="en-US" sz="1200" b="0" i="1" err="1">
                <a:solidFill>
                  <a:srgbClr val="212121"/>
                </a:solidFill>
                <a:effectLst/>
              </a:rPr>
              <a:t>Ashwini</a:t>
            </a:r>
            <a:r>
              <a:rPr lang="en-US" sz="1200" b="0" i="1">
                <a:solidFill>
                  <a:srgbClr val="212121"/>
                </a:solidFill>
                <a:effectLst/>
              </a:rPr>
              <a:t> et al. “</a:t>
            </a:r>
            <a:r>
              <a:rPr lang="en-US" sz="1200" b="0" i="1" err="1">
                <a:solidFill>
                  <a:srgbClr val="212121"/>
                </a:solidFill>
                <a:effectLst/>
              </a:rPr>
              <a:t>Evolution</a:t>
            </a:r>
            <a:r>
              <a:rPr lang="en-US" sz="1200" b="0" i="1">
                <a:solidFill>
                  <a:srgbClr val="212121"/>
                </a:solidFill>
                <a:effectLst/>
              </a:rPr>
              <a:t> of </a:t>
            </a:r>
            <a:r>
              <a:rPr lang="en-US" sz="1200" b="0" i="1" err="1">
                <a:solidFill>
                  <a:srgbClr val="212121"/>
                </a:solidFill>
                <a:effectLst/>
              </a:rPr>
              <a:t>Electrospinning</a:t>
            </a:r>
            <a:r>
              <a:rPr lang="en-US" sz="1200" b="0" i="1">
                <a:solidFill>
                  <a:srgbClr val="212121"/>
                </a:solidFill>
                <a:effectLst/>
              </a:rPr>
              <a:t> in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Tissue</a:t>
            </a:r>
            <a:r>
              <a:rPr lang="en-US" sz="1200" b="0" i="1">
                <a:solidFill>
                  <a:srgbClr val="212121"/>
                </a:solidFill>
                <a:effectLst/>
              </a:rPr>
              <a:t> Engineering.” </a:t>
            </a:r>
            <a:r>
              <a:rPr lang="en-US" sz="1200" b="0" i="1" err="1">
                <a:solidFill>
                  <a:srgbClr val="212121"/>
                </a:solidFill>
                <a:effectLst/>
              </a:rPr>
              <a:t>Biomimetics</a:t>
            </a:r>
            <a:r>
              <a:rPr lang="en-US" sz="1200" b="0" i="1">
                <a:solidFill>
                  <a:srgbClr val="212121"/>
                </a:solidFill>
                <a:effectLst/>
              </a:rPr>
              <a:t> (Basel, </a:t>
            </a:r>
            <a:r>
              <a:rPr lang="en-US" sz="1200" b="0" i="1" err="1">
                <a:solidFill>
                  <a:srgbClr val="212121"/>
                </a:solidFill>
                <a:effectLst/>
              </a:rPr>
              <a:t>Switzerland</a:t>
            </a:r>
            <a:r>
              <a:rPr lang="en-US" sz="1200" b="0" i="1">
                <a:solidFill>
                  <a:srgbClr val="212121"/>
                </a:solidFill>
                <a:effectLst/>
              </a:rPr>
              <a:t>) vol. 7,4 149. 30 Sep. 2022, doi:10.3390/biomimetics7040149</a:t>
            </a:r>
          </a:p>
          <a:p>
            <a:endParaRPr lang="en-US" sz="1200" b="0" i="1">
              <a:solidFill>
                <a:srgbClr val="212121"/>
              </a:solidFill>
              <a:effectLst/>
            </a:endParaRPr>
          </a:p>
          <a:p>
            <a:r>
              <a:rPr lang="en-US" sz="1200" b="0" i="1" err="1">
                <a:solidFill>
                  <a:srgbClr val="212121"/>
                </a:solidFill>
                <a:effectLst/>
              </a:rPr>
              <a:t>Heydari</a:t>
            </a:r>
            <a:r>
              <a:rPr lang="en-US" sz="1200" b="0" i="1">
                <a:solidFill>
                  <a:srgbClr val="212121"/>
                </a:solidFill>
                <a:effectLst/>
              </a:rPr>
              <a:t>, Zahra et al. “</a:t>
            </a:r>
            <a:r>
              <a:rPr lang="en-US" sz="1200" b="0" i="1" err="1">
                <a:solidFill>
                  <a:srgbClr val="212121"/>
                </a:solidFill>
                <a:effectLst/>
              </a:rPr>
              <a:t>Tissue</a:t>
            </a:r>
            <a:r>
              <a:rPr lang="en-US" sz="1200" b="0" i="1">
                <a:solidFill>
                  <a:srgbClr val="212121"/>
                </a:solidFill>
                <a:effectLst/>
              </a:rPr>
              <a:t> Engineering in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Regenerative</a:t>
            </a:r>
            <a:r>
              <a:rPr lang="en-US" sz="1200" b="0" i="1">
                <a:solidFill>
                  <a:srgbClr val="212121"/>
                </a:solidFill>
                <a:effectLst/>
              </a:rPr>
              <a:t> Medicine: Insights </a:t>
            </a:r>
            <a:r>
              <a:rPr lang="en-US" sz="1200" b="0" i="1" err="1">
                <a:solidFill>
                  <a:srgbClr val="212121"/>
                </a:solidFill>
                <a:effectLst/>
              </a:rPr>
              <a:t>into</a:t>
            </a:r>
            <a:r>
              <a:rPr lang="en-US" sz="1200" b="0" i="1">
                <a:solidFill>
                  <a:srgbClr val="212121"/>
                </a:solidFill>
                <a:effectLst/>
              </a:rPr>
              <a:t> </a:t>
            </a:r>
            <a:r>
              <a:rPr lang="en-US" sz="1200" b="0" i="1" err="1">
                <a:solidFill>
                  <a:srgbClr val="212121"/>
                </a:solidFill>
                <a:effectLst/>
              </a:rPr>
              <a:t>Novel</a:t>
            </a:r>
            <a:r>
              <a:rPr lang="en-US" sz="1200" b="0" i="1">
                <a:solidFill>
                  <a:srgbClr val="212121"/>
                </a:solidFill>
                <a:effectLst/>
              </a:rPr>
              <a:t> </a:t>
            </a:r>
            <a:r>
              <a:rPr lang="en-US" sz="1200" b="0" i="1" err="1">
                <a:solidFill>
                  <a:srgbClr val="212121"/>
                </a:solidFill>
                <a:effectLst/>
              </a:rPr>
              <a:t>Translational</a:t>
            </a:r>
            <a:r>
              <a:rPr lang="en-US" sz="1200" b="0" i="1">
                <a:solidFill>
                  <a:srgbClr val="212121"/>
                </a:solidFill>
                <a:effectLst/>
              </a:rPr>
              <a:t> Technologies.” </a:t>
            </a:r>
            <a:r>
              <a:rPr lang="en-US" sz="1200" b="0" i="1" err="1">
                <a:solidFill>
                  <a:srgbClr val="212121"/>
                </a:solidFill>
                <a:effectLst/>
              </a:rPr>
              <a:t>Cells</a:t>
            </a:r>
            <a:r>
              <a:rPr lang="en-US" sz="1200" b="0" i="1">
                <a:solidFill>
                  <a:srgbClr val="212121"/>
                </a:solidFill>
                <a:effectLst/>
              </a:rPr>
              <a:t> vol. 9,2 304. 27 </a:t>
            </a:r>
            <a:r>
              <a:rPr lang="en-US" sz="1200" b="0" i="1" err="1">
                <a:solidFill>
                  <a:srgbClr val="212121"/>
                </a:solidFill>
                <a:effectLst/>
              </a:rPr>
              <a:t>Jan</a:t>
            </a:r>
            <a:r>
              <a:rPr lang="en-US" sz="1200" b="0" i="1">
                <a:solidFill>
                  <a:srgbClr val="212121"/>
                </a:solidFill>
                <a:effectLst/>
              </a:rPr>
              <a:t>. 2020, doi:10.3390/cells9020304</a:t>
            </a:r>
          </a:p>
          <a:p>
            <a:endParaRPr lang="en-US" sz="1200" i="1">
              <a:solidFill>
                <a:srgbClr val="212121"/>
              </a:solidFill>
            </a:endParaRPr>
          </a:p>
          <a:p>
            <a:r>
              <a:rPr lang="en-US" sz="1200" b="0" i="1">
                <a:solidFill>
                  <a:srgbClr val="212121"/>
                </a:solidFill>
                <a:effectLst/>
              </a:rPr>
              <a:t>Mazza, Giuseppe et al.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tissue</a:t>
            </a:r>
            <a:r>
              <a:rPr lang="en-US" sz="1200" b="0" i="1">
                <a:solidFill>
                  <a:srgbClr val="212121"/>
                </a:solidFill>
                <a:effectLst/>
              </a:rPr>
              <a:t> engineering: From </a:t>
            </a:r>
            <a:r>
              <a:rPr lang="en-US" sz="1200" b="0" i="1" err="1">
                <a:solidFill>
                  <a:srgbClr val="212121"/>
                </a:solidFill>
                <a:effectLst/>
              </a:rPr>
              <a:t>implantable</a:t>
            </a:r>
            <a:r>
              <a:rPr lang="en-US" sz="1200" b="0" i="1">
                <a:solidFill>
                  <a:srgbClr val="212121"/>
                </a:solidFill>
                <a:effectLst/>
              </a:rPr>
              <a:t> </a:t>
            </a:r>
            <a:r>
              <a:rPr lang="en-US" sz="1200" b="0" i="1" err="1">
                <a:solidFill>
                  <a:srgbClr val="212121"/>
                </a:solidFill>
                <a:effectLst/>
              </a:rPr>
              <a:t>tissue</a:t>
            </a:r>
            <a:r>
              <a:rPr lang="en-US" sz="1200" b="0" i="1">
                <a:solidFill>
                  <a:srgbClr val="212121"/>
                </a:solidFill>
                <a:effectLst/>
              </a:rPr>
              <a:t> to </a:t>
            </a:r>
            <a:r>
              <a:rPr lang="en-US" sz="1200" b="0" i="1" err="1">
                <a:solidFill>
                  <a:srgbClr val="212121"/>
                </a:solidFill>
                <a:effectLst/>
              </a:rPr>
              <a:t>whole</a:t>
            </a:r>
            <a:r>
              <a:rPr lang="en-US" sz="1200" b="0" i="1">
                <a:solidFill>
                  <a:srgbClr val="212121"/>
                </a:solidFill>
                <a:effectLst/>
              </a:rPr>
              <a:t> </a:t>
            </a:r>
            <a:r>
              <a:rPr lang="en-US" sz="1200" b="0" i="1" err="1">
                <a:solidFill>
                  <a:srgbClr val="212121"/>
                </a:solidFill>
                <a:effectLst/>
              </a:rPr>
              <a:t>organ</a:t>
            </a:r>
            <a:r>
              <a:rPr lang="en-US" sz="1200" b="0" i="1">
                <a:solidFill>
                  <a:srgbClr val="212121"/>
                </a:solidFill>
                <a:effectLst/>
              </a:rPr>
              <a:t> engineering.” </a:t>
            </a:r>
            <a:r>
              <a:rPr lang="en-US" sz="1200" b="0" i="1" err="1">
                <a:solidFill>
                  <a:srgbClr val="212121"/>
                </a:solidFill>
                <a:effectLst/>
              </a:rPr>
              <a:t>Hepatology</a:t>
            </a:r>
            <a:r>
              <a:rPr lang="en-US" sz="1200" b="0" i="1">
                <a:solidFill>
                  <a:srgbClr val="212121"/>
                </a:solidFill>
                <a:effectLst/>
              </a:rPr>
              <a:t> </a:t>
            </a:r>
            <a:r>
              <a:rPr lang="en-US" sz="1200" b="0" i="1" err="1">
                <a:solidFill>
                  <a:srgbClr val="212121"/>
                </a:solidFill>
                <a:effectLst/>
              </a:rPr>
              <a:t>communications</a:t>
            </a:r>
            <a:r>
              <a:rPr lang="en-US" sz="1200" b="0" i="1">
                <a:solidFill>
                  <a:srgbClr val="212121"/>
                </a:solidFill>
                <a:effectLst/>
              </a:rPr>
              <a:t> vol. 2,2 131-141. 21 </a:t>
            </a:r>
            <a:r>
              <a:rPr lang="en-US" sz="1200" b="0" i="1" err="1">
                <a:solidFill>
                  <a:srgbClr val="212121"/>
                </a:solidFill>
                <a:effectLst/>
              </a:rPr>
              <a:t>Dec</a:t>
            </a:r>
            <a:r>
              <a:rPr lang="en-US" sz="1200" b="0" i="1">
                <a:solidFill>
                  <a:srgbClr val="212121"/>
                </a:solidFill>
                <a:effectLst/>
              </a:rPr>
              <a:t>. 2017, doi:10.1002/hep4.1136</a:t>
            </a:r>
            <a:endParaRPr lang="en-US" sz="1200" i="1"/>
          </a:p>
        </p:txBody>
      </p:sp>
    </p:spTree>
    <p:extLst>
      <p:ext uri="{BB962C8B-B14F-4D97-AF65-F5344CB8AC3E}">
        <p14:creationId xmlns:p14="http://schemas.microsoft.com/office/powerpoint/2010/main" val="3019064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0F00C-6545-CDB3-248A-C511430C3785}"/>
            </a:ext>
          </a:extLst>
        </p:cNvPr>
        <p:cNvGrpSpPr/>
        <p:nvPr/>
      </p:nvGrpSpPr>
      <p:grpSpPr>
        <a:xfrm>
          <a:off x="0" y="0"/>
          <a:ext cx="0" cy="0"/>
          <a:chOff x="0" y="0"/>
          <a:chExt cx="0" cy="0"/>
        </a:xfrm>
      </p:grpSpPr>
      <p:sp>
        <p:nvSpPr>
          <p:cNvPr id="13" name="TextBox 9">
            <a:extLst>
              <a:ext uri="{FF2B5EF4-FFF2-40B4-BE49-F238E27FC236}">
                <a16:creationId xmlns:a16="http://schemas.microsoft.com/office/drawing/2014/main" id="{BE8AB4CA-3361-6684-70C5-BAFACD1E68D2}"/>
              </a:ext>
            </a:extLst>
          </p:cNvPr>
          <p:cNvSpPr txBox="1"/>
          <p:nvPr/>
        </p:nvSpPr>
        <p:spPr>
          <a:xfrm>
            <a:off x="368440" y="216556"/>
            <a:ext cx="11455120" cy="1415772"/>
          </a:xfrm>
          <a:prstGeom prst="rect">
            <a:avLst/>
          </a:prstGeom>
          <a:noFill/>
        </p:spPr>
        <p:txBody>
          <a:bodyPr wrap="square" lIns="91440" tIns="45720" rIns="91440" bIns="45720" rtlCol="0" anchor="t">
            <a:spAutoFit/>
          </a:bodyPr>
          <a:lstStyle/>
          <a:p>
            <a:r>
              <a:rPr lang="en-US" sz="4300" b="1">
                <a:solidFill>
                  <a:srgbClr val="435EB4"/>
                </a:solidFill>
                <a:latin typeface="Bangla MN"/>
                <a:ea typeface="Hiragino Kaku Gothic Std W8"/>
                <a:cs typeface="Bangla MN" pitchFamily="2" charset="0"/>
              </a:rPr>
              <a:t>REFERENCES</a:t>
            </a:r>
          </a:p>
          <a:p>
            <a:endParaRPr lang="en-US" sz="4300" b="1">
              <a:solidFill>
                <a:srgbClr val="435EB4"/>
              </a:solidFill>
              <a:latin typeface="Bangla MN"/>
              <a:ea typeface="Hiragino Kaku Gothic Std W8"/>
              <a:cs typeface="Bangla MN" pitchFamily="2" charset="0"/>
            </a:endParaRPr>
          </a:p>
        </p:txBody>
      </p:sp>
      <p:sp>
        <p:nvSpPr>
          <p:cNvPr id="3" name="CasellaDiTesto 2">
            <a:extLst>
              <a:ext uri="{FF2B5EF4-FFF2-40B4-BE49-F238E27FC236}">
                <a16:creationId xmlns:a16="http://schemas.microsoft.com/office/drawing/2014/main" id="{0F5CF041-673B-1822-C077-30AD495BE7E7}"/>
              </a:ext>
            </a:extLst>
          </p:cNvPr>
          <p:cNvSpPr txBox="1"/>
          <p:nvPr/>
        </p:nvSpPr>
        <p:spPr>
          <a:xfrm>
            <a:off x="368440" y="924442"/>
            <a:ext cx="10924400" cy="5632311"/>
          </a:xfrm>
          <a:prstGeom prst="rect">
            <a:avLst/>
          </a:prstGeom>
          <a:noFill/>
        </p:spPr>
        <p:txBody>
          <a:bodyPr wrap="square" rtlCol="0">
            <a:spAutoFit/>
          </a:bodyPr>
          <a:lstStyle/>
          <a:p>
            <a:r>
              <a:rPr lang="en-US" sz="1200" b="0" i="1" err="1">
                <a:solidFill>
                  <a:srgbClr val="212121"/>
                </a:solidFill>
                <a:effectLst/>
              </a:rPr>
              <a:t>Agarwal</a:t>
            </a:r>
            <a:r>
              <a:rPr lang="en-US" sz="1200" b="0" i="1">
                <a:solidFill>
                  <a:srgbClr val="212121"/>
                </a:solidFill>
                <a:effectLst/>
              </a:rPr>
              <a:t>, </a:t>
            </a:r>
            <a:r>
              <a:rPr lang="en-US" sz="1200" b="0" i="1" err="1">
                <a:solidFill>
                  <a:srgbClr val="212121"/>
                </a:solidFill>
                <a:effectLst/>
              </a:rPr>
              <a:t>Tarun</a:t>
            </a:r>
            <a:r>
              <a:rPr lang="en-US" sz="1200" b="0" i="1">
                <a:solidFill>
                  <a:srgbClr val="212121"/>
                </a:solidFill>
                <a:effectLst/>
              </a:rPr>
              <a:t> et al.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Tissue</a:t>
            </a:r>
            <a:r>
              <a:rPr lang="en-US" sz="1200" b="0" i="1">
                <a:solidFill>
                  <a:srgbClr val="212121"/>
                </a:solidFill>
                <a:effectLst/>
              </a:rPr>
              <a:t> Engineering: Challenges and </a:t>
            </a:r>
            <a:r>
              <a:rPr lang="en-US" sz="1200" b="0" i="1" err="1">
                <a:solidFill>
                  <a:srgbClr val="212121"/>
                </a:solidFill>
                <a:effectLst/>
              </a:rPr>
              <a:t>Opportunities</a:t>
            </a:r>
            <a:r>
              <a:rPr lang="en-US" sz="1200" b="0" i="1">
                <a:solidFill>
                  <a:srgbClr val="212121"/>
                </a:solidFill>
                <a:effectLst/>
              </a:rPr>
              <a:t>.” ACS </a:t>
            </a:r>
            <a:r>
              <a:rPr lang="en-US" sz="1200" b="0" i="1" err="1">
                <a:solidFill>
                  <a:srgbClr val="212121"/>
                </a:solidFill>
                <a:effectLst/>
              </a:rPr>
              <a:t>biomaterials</a:t>
            </a:r>
            <a:r>
              <a:rPr lang="en-US" sz="1200" b="0" i="1">
                <a:solidFill>
                  <a:srgbClr val="212121"/>
                </a:solidFill>
                <a:effectLst/>
              </a:rPr>
              <a:t> science &amp; engineering vol. 5,9 (2019): 4167-4182. doi:10.1021/acsbiomaterials.9b00745</a:t>
            </a:r>
          </a:p>
          <a:p>
            <a:endParaRPr lang="en-US" sz="1200" i="1">
              <a:solidFill>
                <a:srgbClr val="212121"/>
              </a:solidFill>
            </a:endParaRPr>
          </a:p>
          <a:p>
            <a:r>
              <a:rPr lang="en-US" sz="1200" b="0" i="1" err="1">
                <a:solidFill>
                  <a:srgbClr val="212121"/>
                </a:solidFill>
                <a:effectLst/>
              </a:rPr>
              <a:t>Bhatt</a:t>
            </a:r>
            <a:r>
              <a:rPr lang="en-US" sz="1200" b="0" i="1">
                <a:solidFill>
                  <a:srgbClr val="212121"/>
                </a:solidFill>
                <a:effectLst/>
              </a:rPr>
              <a:t> S, </a:t>
            </a:r>
            <a:r>
              <a:rPr lang="en-US" sz="1200" b="0" i="1" err="1">
                <a:solidFill>
                  <a:srgbClr val="212121"/>
                </a:solidFill>
                <a:effectLst/>
              </a:rPr>
              <a:t>Supriya</a:t>
            </a:r>
            <a:r>
              <a:rPr lang="en-US" sz="1200" b="0" i="1">
                <a:solidFill>
                  <a:srgbClr val="212121"/>
                </a:solidFill>
                <a:effectLst/>
              </a:rPr>
              <a:t> et al. “Scaffold-</a:t>
            </a:r>
            <a:r>
              <a:rPr lang="en-US" sz="1200" b="0" i="1" err="1">
                <a:solidFill>
                  <a:srgbClr val="212121"/>
                </a:solidFill>
                <a:effectLst/>
              </a:rPr>
              <a:t>mediated</a:t>
            </a:r>
            <a:r>
              <a:rPr lang="en-US" sz="1200" b="0" i="1">
                <a:solidFill>
                  <a:srgbClr val="212121"/>
                </a:solidFill>
                <a:effectLst/>
              </a:rPr>
              <a:t>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regeneration</a:t>
            </a:r>
            <a:r>
              <a:rPr lang="en-US" sz="1200" b="0" i="1">
                <a:solidFill>
                  <a:srgbClr val="212121"/>
                </a:solidFill>
                <a:effectLst/>
              </a:rPr>
              <a:t>: A </a:t>
            </a:r>
            <a:r>
              <a:rPr lang="en-US" sz="1200" b="0" i="1" err="1">
                <a:solidFill>
                  <a:srgbClr val="212121"/>
                </a:solidFill>
                <a:effectLst/>
              </a:rPr>
              <a:t>comprehensive</a:t>
            </a:r>
            <a:r>
              <a:rPr lang="en-US" sz="1200" b="0" i="1">
                <a:solidFill>
                  <a:srgbClr val="212121"/>
                </a:solidFill>
                <a:effectLst/>
              </a:rPr>
              <a:t> </a:t>
            </a:r>
            <a:r>
              <a:rPr lang="en-US" sz="1200" b="0" i="1" err="1">
                <a:solidFill>
                  <a:srgbClr val="212121"/>
                </a:solidFill>
                <a:effectLst/>
              </a:rPr>
              <a:t>exploration</a:t>
            </a:r>
            <a:r>
              <a:rPr lang="en-US" sz="1200" b="0" i="1">
                <a:solidFill>
                  <a:srgbClr val="212121"/>
                </a:solidFill>
                <a:effectLst/>
              </a:rPr>
              <a:t> of </a:t>
            </a:r>
            <a:r>
              <a:rPr lang="en-US" sz="1200" b="0" i="1" err="1">
                <a:solidFill>
                  <a:srgbClr val="212121"/>
                </a:solidFill>
                <a:effectLst/>
              </a:rPr>
              <a:t>current</a:t>
            </a:r>
            <a:r>
              <a:rPr lang="en-US" sz="1200" b="0" i="1">
                <a:solidFill>
                  <a:srgbClr val="212121"/>
                </a:solidFill>
                <a:effectLst/>
              </a:rPr>
              <a:t> </a:t>
            </a:r>
            <a:r>
              <a:rPr lang="en-US" sz="1200" b="0" i="1" err="1">
                <a:solidFill>
                  <a:srgbClr val="212121"/>
                </a:solidFill>
                <a:effectLst/>
              </a:rPr>
              <a:t>advances</a:t>
            </a:r>
            <a:r>
              <a:rPr lang="en-US" sz="1200" b="0" i="1">
                <a:solidFill>
                  <a:srgbClr val="212121"/>
                </a:solidFill>
                <a:effectLst/>
              </a:rPr>
              <a:t>.” Journal of </a:t>
            </a:r>
            <a:r>
              <a:rPr lang="en-US" sz="1200" b="0" i="1" err="1">
                <a:solidFill>
                  <a:srgbClr val="212121"/>
                </a:solidFill>
                <a:effectLst/>
              </a:rPr>
              <a:t>tissue</a:t>
            </a:r>
            <a:r>
              <a:rPr lang="en-US" sz="1200" b="0" i="1">
                <a:solidFill>
                  <a:srgbClr val="212121"/>
                </a:solidFill>
                <a:effectLst/>
              </a:rPr>
              <a:t> engineering vol. 15 20417314241286092. 13 </a:t>
            </a:r>
            <a:r>
              <a:rPr lang="en-US" sz="1200" b="0" i="1" err="1">
                <a:solidFill>
                  <a:srgbClr val="212121"/>
                </a:solidFill>
                <a:effectLst/>
              </a:rPr>
              <a:t>Oct</a:t>
            </a:r>
            <a:r>
              <a:rPr lang="en-US" sz="1200" b="0" i="1">
                <a:solidFill>
                  <a:srgbClr val="212121"/>
                </a:solidFill>
                <a:effectLst/>
              </a:rPr>
              <a:t>. 2024, doi:10.1177/20417314241286092</a:t>
            </a:r>
          </a:p>
          <a:p>
            <a:endParaRPr lang="en-US" sz="1200" i="1">
              <a:solidFill>
                <a:srgbClr val="212121"/>
              </a:solidFill>
            </a:endParaRPr>
          </a:p>
          <a:p>
            <a:r>
              <a:rPr lang="en-US" sz="1200" b="0" i="1" err="1">
                <a:solidFill>
                  <a:srgbClr val="212121"/>
                </a:solidFill>
                <a:effectLst/>
              </a:rPr>
              <a:t>Mirdamadi</a:t>
            </a:r>
            <a:r>
              <a:rPr lang="en-US" sz="1200" b="0" i="1">
                <a:solidFill>
                  <a:srgbClr val="212121"/>
                </a:solidFill>
                <a:effectLst/>
              </a:rPr>
              <a:t>, </a:t>
            </a:r>
            <a:r>
              <a:rPr lang="en-US" sz="1200" b="0" i="1" err="1">
                <a:solidFill>
                  <a:srgbClr val="212121"/>
                </a:solidFill>
                <a:effectLst/>
              </a:rPr>
              <a:t>Elnaz</a:t>
            </a:r>
            <a:r>
              <a:rPr lang="en-US" sz="1200" b="0" i="1">
                <a:solidFill>
                  <a:srgbClr val="212121"/>
                </a:solidFill>
                <a:effectLst/>
              </a:rPr>
              <a:t> Sadat et al.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Tissue</a:t>
            </a:r>
            <a:r>
              <a:rPr lang="en-US" sz="1200" b="0" i="1">
                <a:solidFill>
                  <a:srgbClr val="212121"/>
                </a:solidFill>
                <a:effectLst/>
              </a:rPr>
              <a:t> Engineering </a:t>
            </a:r>
            <a:r>
              <a:rPr lang="en-US" sz="1200" b="0" i="1" err="1">
                <a:solidFill>
                  <a:srgbClr val="212121"/>
                </a:solidFill>
                <a:effectLst/>
              </a:rPr>
              <a:t>as</a:t>
            </a:r>
            <a:r>
              <a:rPr lang="en-US" sz="1200" b="0" i="1">
                <a:solidFill>
                  <a:srgbClr val="212121"/>
                </a:solidFill>
                <a:effectLst/>
              </a:rPr>
              <a:t> an </a:t>
            </a:r>
            <a:r>
              <a:rPr lang="en-US" sz="1200" b="0" i="1" err="1">
                <a:solidFill>
                  <a:srgbClr val="212121"/>
                </a:solidFill>
                <a:effectLst/>
              </a:rPr>
              <a:t>Emerging</a:t>
            </a:r>
            <a:r>
              <a:rPr lang="en-US" sz="1200" b="0" i="1">
                <a:solidFill>
                  <a:srgbClr val="212121"/>
                </a:solidFill>
                <a:effectLst/>
              </a:rPr>
              <a:t> Alternative for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Disease</a:t>
            </a:r>
            <a:r>
              <a:rPr lang="en-US" sz="1200" b="0" i="1">
                <a:solidFill>
                  <a:srgbClr val="212121"/>
                </a:solidFill>
                <a:effectLst/>
              </a:rPr>
              <a:t> Treatment.” </a:t>
            </a:r>
            <a:r>
              <a:rPr lang="en-US" sz="1200" b="0" i="1" err="1">
                <a:solidFill>
                  <a:srgbClr val="212121"/>
                </a:solidFill>
                <a:effectLst/>
              </a:rPr>
              <a:t>Tissue</a:t>
            </a:r>
            <a:r>
              <a:rPr lang="en-US" sz="1200" b="0" i="1">
                <a:solidFill>
                  <a:srgbClr val="212121"/>
                </a:solidFill>
                <a:effectLst/>
              </a:rPr>
              <a:t> engineering. Part B, Reviews vol. 26,2 (2020): 145-163. doi:10.1089/ten.TEB.2019.0233</a:t>
            </a:r>
          </a:p>
          <a:p>
            <a:endParaRPr lang="en-US" sz="1200" i="1">
              <a:solidFill>
                <a:srgbClr val="212121"/>
              </a:solidFill>
            </a:endParaRPr>
          </a:p>
          <a:p>
            <a:r>
              <a:rPr lang="en-US" sz="1200" b="0" i="1" err="1">
                <a:solidFill>
                  <a:srgbClr val="212121"/>
                </a:solidFill>
                <a:effectLst/>
              </a:rPr>
              <a:t>Liu</a:t>
            </a:r>
            <a:r>
              <a:rPr lang="en-US" sz="1200" b="0" i="1">
                <a:solidFill>
                  <a:srgbClr val="212121"/>
                </a:solidFill>
                <a:effectLst/>
              </a:rPr>
              <a:t>, </a:t>
            </a:r>
            <a:r>
              <a:rPr lang="en-US" sz="1200" b="0" i="1" err="1">
                <a:solidFill>
                  <a:srgbClr val="212121"/>
                </a:solidFill>
                <a:effectLst/>
              </a:rPr>
              <a:t>Yakui</a:t>
            </a:r>
            <a:r>
              <a:rPr lang="en-US" sz="1200" b="0" i="1">
                <a:solidFill>
                  <a:srgbClr val="212121"/>
                </a:solidFill>
                <a:effectLst/>
              </a:rPr>
              <a:t> et al. “Alginate/</a:t>
            </a:r>
            <a:r>
              <a:rPr lang="en-US" sz="1200" b="0" i="1" err="1">
                <a:solidFill>
                  <a:srgbClr val="212121"/>
                </a:solidFill>
                <a:effectLst/>
              </a:rPr>
              <a:t>Gelatin-Based</a:t>
            </a:r>
            <a:r>
              <a:rPr lang="en-US" sz="1200" b="0" i="1">
                <a:solidFill>
                  <a:srgbClr val="212121"/>
                </a:solidFill>
                <a:effectLst/>
              </a:rPr>
              <a:t> </a:t>
            </a:r>
            <a:r>
              <a:rPr lang="en-US" sz="1200" b="0" i="1" err="1">
                <a:solidFill>
                  <a:srgbClr val="212121"/>
                </a:solidFill>
                <a:effectLst/>
              </a:rPr>
              <a:t>Hydrogel</a:t>
            </a:r>
            <a:r>
              <a:rPr lang="en-US" sz="1200" b="0" i="1">
                <a:solidFill>
                  <a:srgbClr val="212121"/>
                </a:solidFill>
                <a:effectLst/>
              </a:rPr>
              <a:t> with </a:t>
            </a:r>
            <a:r>
              <a:rPr lang="en-US" sz="1200" b="0" i="1" err="1">
                <a:solidFill>
                  <a:srgbClr val="212121"/>
                </a:solidFill>
                <a:effectLst/>
              </a:rPr>
              <a:t>Soy</a:t>
            </a:r>
            <a:r>
              <a:rPr lang="en-US" sz="1200" b="0" i="1">
                <a:solidFill>
                  <a:srgbClr val="212121"/>
                </a:solidFill>
                <a:effectLst/>
              </a:rPr>
              <a:t> </a:t>
            </a:r>
            <a:r>
              <a:rPr lang="en-US" sz="1200" b="0" i="1" err="1">
                <a:solidFill>
                  <a:srgbClr val="212121"/>
                </a:solidFill>
                <a:effectLst/>
              </a:rPr>
              <a:t>Protein</a:t>
            </a:r>
            <a:r>
              <a:rPr lang="en-US" sz="1200" b="0" i="1">
                <a:solidFill>
                  <a:srgbClr val="212121"/>
                </a:solidFill>
                <a:effectLst/>
              </a:rPr>
              <a:t>/Peptide </a:t>
            </a:r>
            <a:r>
              <a:rPr lang="en-US" sz="1200" b="0" i="1" err="1">
                <a:solidFill>
                  <a:srgbClr val="212121"/>
                </a:solidFill>
                <a:effectLst/>
              </a:rPr>
              <a:t>Powder</a:t>
            </a:r>
            <a:r>
              <a:rPr lang="en-US" sz="1200" b="0" i="1">
                <a:solidFill>
                  <a:srgbClr val="212121"/>
                </a:solidFill>
                <a:effectLst/>
              </a:rPr>
              <a:t> for 3D Printing </a:t>
            </a:r>
            <a:r>
              <a:rPr lang="en-US" sz="1200" b="0" i="1" err="1">
                <a:solidFill>
                  <a:srgbClr val="212121"/>
                </a:solidFill>
                <a:effectLst/>
              </a:rPr>
              <a:t>Tissue</a:t>
            </a:r>
            <a:r>
              <a:rPr lang="en-US" sz="1200" b="0" i="1">
                <a:solidFill>
                  <a:srgbClr val="212121"/>
                </a:solidFill>
                <a:effectLst/>
              </a:rPr>
              <a:t>-Engineering Scaffolds to </a:t>
            </a:r>
            <a:r>
              <a:rPr lang="en-US" sz="1200" b="0" i="1" err="1">
                <a:solidFill>
                  <a:srgbClr val="212121"/>
                </a:solidFill>
                <a:effectLst/>
              </a:rPr>
              <a:t>Promote</a:t>
            </a:r>
            <a:r>
              <a:rPr lang="en-US" sz="1200" b="0" i="1">
                <a:solidFill>
                  <a:srgbClr val="212121"/>
                </a:solidFill>
                <a:effectLst/>
              </a:rPr>
              <a:t> </a:t>
            </a:r>
            <a:r>
              <a:rPr lang="en-US" sz="1200" b="0" i="1" err="1">
                <a:solidFill>
                  <a:srgbClr val="212121"/>
                </a:solidFill>
                <a:effectLst/>
              </a:rPr>
              <a:t>Angiogenesis</a:t>
            </a:r>
            <a:r>
              <a:rPr lang="en-US" sz="1200" b="0" i="1">
                <a:solidFill>
                  <a:srgbClr val="212121"/>
                </a:solidFill>
                <a:effectLst/>
              </a:rPr>
              <a:t>.” </a:t>
            </a:r>
            <a:r>
              <a:rPr lang="en-US" sz="1200" b="0" i="1" err="1">
                <a:solidFill>
                  <a:srgbClr val="212121"/>
                </a:solidFill>
                <a:effectLst/>
              </a:rPr>
              <a:t>Macromolecular</a:t>
            </a:r>
            <a:r>
              <a:rPr lang="en-US" sz="1200" b="0" i="1">
                <a:solidFill>
                  <a:srgbClr val="212121"/>
                </a:solidFill>
                <a:effectLst/>
              </a:rPr>
              <a:t> </a:t>
            </a:r>
            <a:r>
              <a:rPr lang="en-US" sz="1200" b="0" i="1" err="1">
                <a:solidFill>
                  <a:srgbClr val="212121"/>
                </a:solidFill>
                <a:effectLst/>
              </a:rPr>
              <a:t>bioscience</a:t>
            </a:r>
            <a:r>
              <a:rPr lang="en-US" sz="1200" b="0" i="1">
                <a:solidFill>
                  <a:srgbClr val="212121"/>
                </a:solidFill>
                <a:effectLst/>
              </a:rPr>
              <a:t> vol. 22,4 (2022): e2100413. doi:10.1002/mabi.202100413</a:t>
            </a:r>
          </a:p>
          <a:p>
            <a:endParaRPr lang="en-US" sz="1200" i="1">
              <a:solidFill>
                <a:srgbClr val="212121"/>
              </a:solidFill>
            </a:endParaRPr>
          </a:p>
          <a:p>
            <a:r>
              <a:rPr lang="en-US" sz="1200" b="0" i="1">
                <a:solidFill>
                  <a:srgbClr val="222222"/>
                </a:solidFill>
                <a:effectLst/>
              </a:rPr>
              <a:t>Wei, Ting, et al. "Thermal </a:t>
            </a:r>
            <a:r>
              <a:rPr lang="en-US" sz="1200" b="0" i="1" err="1">
                <a:solidFill>
                  <a:srgbClr val="222222"/>
                </a:solidFill>
                <a:effectLst/>
              </a:rPr>
              <a:t>analysis</a:t>
            </a:r>
            <a:r>
              <a:rPr lang="en-US" sz="1200" b="0" i="1">
                <a:solidFill>
                  <a:srgbClr val="222222"/>
                </a:solidFill>
                <a:effectLst/>
              </a:rPr>
              <a:t> and non‐</a:t>
            </a:r>
            <a:r>
              <a:rPr lang="en-US" sz="1200" b="0" i="1" err="1">
                <a:solidFill>
                  <a:srgbClr val="222222"/>
                </a:solidFill>
                <a:effectLst/>
              </a:rPr>
              <a:t>isothermal</a:t>
            </a:r>
            <a:r>
              <a:rPr lang="en-US" sz="1200" b="0" i="1">
                <a:solidFill>
                  <a:srgbClr val="222222"/>
                </a:solidFill>
                <a:effectLst/>
              </a:rPr>
              <a:t> </a:t>
            </a:r>
            <a:r>
              <a:rPr lang="en-US" sz="1200" b="0" i="1" err="1">
                <a:solidFill>
                  <a:srgbClr val="222222"/>
                </a:solidFill>
                <a:effectLst/>
              </a:rPr>
              <a:t>kinetics</a:t>
            </a:r>
            <a:r>
              <a:rPr lang="en-US" sz="1200" b="0" i="1">
                <a:solidFill>
                  <a:srgbClr val="222222"/>
                </a:solidFill>
                <a:effectLst/>
              </a:rPr>
              <a:t> of </a:t>
            </a:r>
            <a:r>
              <a:rPr lang="en-US" sz="1200" b="0" i="1" err="1">
                <a:solidFill>
                  <a:srgbClr val="222222"/>
                </a:solidFill>
                <a:effectLst/>
              </a:rPr>
              <a:t>poly</a:t>
            </a:r>
            <a:r>
              <a:rPr lang="en-US" sz="1200" b="0" i="1">
                <a:solidFill>
                  <a:srgbClr val="222222"/>
                </a:solidFill>
                <a:effectLst/>
              </a:rPr>
              <a:t> (</a:t>
            </a:r>
            <a:r>
              <a:rPr lang="en-US" sz="1200" b="0" i="1" err="1">
                <a:solidFill>
                  <a:srgbClr val="222222"/>
                </a:solidFill>
                <a:effectLst/>
              </a:rPr>
              <a:t>ethylene</a:t>
            </a:r>
            <a:r>
              <a:rPr lang="en-US" sz="1200" b="0" i="1">
                <a:solidFill>
                  <a:srgbClr val="222222"/>
                </a:solidFill>
                <a:effectLst/>
              </a:rPr>
              <a:t> </a:t>
            </a:r>
            <a:r>
              <a:rPr lang="en-US" sz="1200" b="0" i="1" err="1">
                <a:solidFill>
                  <a:srgbClr val="222222"/>
                </a:solidFill>
                <a:effectLst/>
              </a:rPr>
              <a:t>glycol</a:t>
            </a:r>
            <a:r>
              <a:rPr lang="en-US" sz="1200" b="0" i="1">
                <a:solidFill>
                  <a:srgbClr val="222222"/>
                </a:solidFill>
                <a:effectLst/>
              </a:rPr>
              <a:t>) with </a:t>
            </a:r>
            <a:r>
              <a:rPr lang="en-US" sz="1200" b="0" i="1" err="1">
                <a:solidFill>
                  <a:srgbClr val="222222"/>
                </a:solidFill>
                <a:effectLst/>
              </a:rPr>
              <a:t>different</a:t>
            </a:r>
            <a:r>
              <a:rPr lang="en-US" sz="1200" b="0" i="1">
                <a:solidFill>
                  <a:srgbClr val="222222"/>
                </a:solidFill>
                <a:effectLst/>
              </a:rPr>
              <a:t> </a:t>
            </a:r>
            <a:r>
              <a:rPr lang="en-US" sz="1200" b="0" i="1" err="1">
                <a:solidFill>
                  <a:srgbClr val="222222"/>
                </a:solidFill>
                <a:effectLst/>
              </a:rPr>
              <a:t>molecular</a:t>
            </a:r>
            <a:r>
              <a:rPr lang="en-US" sz="1200" b="0" i="1">
                <a:solidFill>
                  <a:srgbClr val="222222"/>
                </a:solidFill>
                <a:effectLst/>
              </a:rPr>
              <a:t> weight." </a:t>
            </a:r>
            <a:r>
              <a:rPr lang="en-US" sz="1200" b="0" i="1" err="1">
                <a:solidFill>
                  <a:srgbClr val="222222"/>
                </a:solidFill>
                <a:effectLst/>
              </a:rPr>
              <a:t>Polymer</a:t>
            </a:r>
            <a:r>
              <a:rPr lang="en-US" sz="1200" b="0" i="1">
                <a:solidFill>
                  <a:srgbClr val="222222"/>
                </a:solidFill>
                <a:effectLst/>
              </a:rPr>
              <a:t> Engineering &amp; Science 54.12 (2014): 2872-2876</a:t>
            </a:r>
          </a:p>
          <a:p>
            <a:endParaRPr lang="en-US" sz="1200" i="1">
              <a:solidFill>
                <a:srgbClr val="222222"/>
              </a:solidFill>
            </a:endParaRPr>
          </a:p>
          <a:p>
            <a:r>
              <a:rPr lang="en-US" sz="1200" b="0" i="1">
                <a:solidFill>
                  <a:srgbClr val="212121"/>
                </a:solidFill>
                <a:effectLst/>
              </a:rPr>
              <a:t>Contessi Negrini, Nicola et al. “</a:t>
            </a:r>
            <a:r>
              <a:rPr lang="en-US" sz="1200" b="0" i="1" err="1">
                <a:solidFill>
                  <a:srgbClr val="212121"/>
                </a:solidFill>
                <a:effectLst/>
              </a:rPr>
              <a:t>Tunable</a:t>
            </a:r>
            <a:r>
              <a:rPr lang="en-US" sz="1200" b="0" i="1">
                <a:solidFill>
                  <a:srgbClr val="212121"/>
                </a:solidFill>
                <a:effectLst/>
              </a:rPr>
              <a:t> Cross-Linking and </a:t>
            </a:r>
            <a:r>
              <a:rPr lang="en-US" sz="1200" b="0" i="1" err="1">
                <a:solidFill>
                  <a:srgbClr val="212121"/>
                </a:solidFill>
                <a:effectLst/>
              </a:rPr>
              <a:t>Adhesion</a:t>
            </a:r>
            <a:r>
              <a:rPr lang="en-US" sz="1200" b="0" i="1">
                <a:solidFill>
                  <a:srgbClr val="212121"/>
                </a:solidFill>
                <a:effectLst/>
              </a:rPr>
              <a:t> of </a:t>
            </a:r>
            <a:r>
              <a:rPr lang="en-US" sz="1200" b="0" i="1" err="1">
                <a:solidFill>
                  <a:srgbClr val="212121"/>
                </a:solidFill>
                <a:effectLst/>
              </a:rPr>
              <a:t>Gelatin</a:t>
            </a:r>
            <a:r>
              <a:rPr lang="en-US" sz="1200" b="0" i="1">
                <a:solidFill>
                  <a:srgbClr val="212121"/>
                </a:solidFill>
                <a:effectLst/>
              </a:rPr>
              <a:t> </a:t>
            </a:r>
            <a:r>
              <a:rPr lang="en-US" sz="1200" b="0" i="1" err="1">
                <a:solidFill>
                  <a:srgbClr val="212121"/>
                </a:solidFill>
                <a:effectLst/>
              </a:rPr>
              <a:t>Hydrogels</a:t>
            </a:r>
            <a:r>
              <a:rPr lang="en-US" sz="1200" b="0" i="1">
                <a:solidFill>
                  <a:srgbClr val="212121"/>
                </a:solidFill>
                <a:effectLst/>
              </a:rPr>
              <a:t> via </a:t>
            </a:r>
            <a:r>
              <a:rPr lang="en-US" sz="1200" b="0" i="1" err="1">
                <a:solidFill>
                  <a:srgbClr val="212121"/>
                </a:solidFill>
                <a:effectLst/>
              </a:rPr>
              <a:t>Bioorthogonal</a:t>
            </a:r>
            <a:r>
              <a:rPr lang="en-US" sz="1200" b="0" i="1">
                <a:solidFill>
                  <a:srgbClr val="212121"/>
                </a:solidFill>
                <a:effectLst/>
              </a:rPr>
              <a:t> Click </a:t>
            </a:r>
            <a:r>
              <a:rPr lang="en-US" sz="1200" b="0" i="1" err="1">
                <a:solidFill>
                  <a:srgbClr val="212121"/>
                </a:solidFill>
                <a:effectLst/>
              </a:rPr>
              <a:t>Chemistry</a:t>
            </a:r>
            <a:r>
              <a:rPr lang="en-US" sz="1200" b="0" i="1">
                <a:solidFill>
                  <a:srgbClr val="212121"/>
                </a:solidFill>
                <a:effectLst/>
              </a:rPr>
              <a:t>.” ACS </a:t>
            </a:r>
            <a:r>
              <a:rPr lang="en-US" sz="1200" b="0" i="1" err="1">
                <a:solidFill>
                  <a:srgbClr val="212121"/>
                </a:solidFill>
                <a:effectLst/>
              </a:rPr>
              <a:t>biomaterials</a:t>
            </a:r>
            <a:r>
              <a:rPr lang="en-US" sz="1200" b="0" i="1">
                <a:solidFill>
                  <a:srgbClr val="212121"/>
                </a:solidFill>
                <a:effectLst/>
              </a:rPr>
              <a:t> science &amp; engineering vol. 7,9 (2021): 4330-4346. doi:10.1021/acsbiomaterials.1c00136</a:t>
            </a:r>
          </a:p>
          <a:p>
            <a:endParaRPr lang="en-US" sz="1200" i="1">
              <a:solidFill>
                <a:srgbClr val="212121"/>
              </a:solidFill>
            </a:endParaRPr>
          </a:p>
          <a:p>
            <a:r>
              <a:rPr lang="en-US" sz="1200" b="0" i="1">
                <a:solidFill>
                  <a:srgbClr val="212121"/>
                </a:solidFill>
                <a:effectLst/>
              </a:rPr>
              <a:t>Paradiso, Alessia et al. “In vitro </a:t>
            </a:r>
            <a:r>
              <a:rPr lang="en-US" sz="1200" b="0" i="1" err="1">
                <a:solidFill>
                  <a:srgbClr val="212121"/>
                </a:solidFill>
                <a:effectLst/>
              </a:rPr>
              <a:t>functional</a:t>
            </a:r>
            <a:r>
              <a:rPr lang="en-US" sz="1200" b="0" i="1">
                <a:solidFill>
                  <a:srgbClr val="212121"/>
                </a:solidFill>
                <a:effectLst/>
              </a:rPr>
              <a:t> models for human </a:t>
            </a:r>
            <a:r>
              <a:rPr lang="en-US" sz="1200" b="0" i="1" err="1">
                <a:solidFill>
                  <a:srgbClr val="212121"/>
                </a:solidFill>
                <a:effectLst/>
              </a:rPr>
              <a:t>liver</a:t>
            </a:r>
            <a:r>
              <a:rPr lang="en-US" sz="1200" b="0" i="1">
                <a:solidFill>
                  <a:srgbClr val="212121"/>
                </a:solidFill>
                <a:effectLst/>
              </a:rPr>
              <a:t> </a:t>
            </a:r>
            <a:r>
              <a:rPr lang="en-US" sz="1200" b="0" i="1" err="1">
                <a:solidFill>
                  <a:srgbClr val="212121"/>
                </a:solidFill>
                <a:effectLst/>
              </a:rPr>
              <a:t>diseases</a:t>
            </a:r>
            <a:r>
              <a:rPr lang="en-US" sz="1200" b="0" i="1">
                <a:solidFill>
                  <a:srgbClr val="212121"/>
                </a:solidFill>
                <a:effectLst/>
              </a:rPr>
              <a:t> and </a:t>
            </a:r>
            <a:r>
              <a:rPr lang="en-US" sz="1200" b="0" i="1" err="1">
                <a:solidFill>
                  <a:srgbClr val="212121"/>
                </a:solidFill>
                <a:effectLst/>
              </a:rPr>
              <a:t>drug</a:t>
            </a:r>
            <a:r>
              <a:rPr lang="en-US" sz="1200" b="0" i="1">
                <a:solidFill>
                  <a:srgbClr val="212121"/>
                </a:solidFill>
                <a:effectLst/>
              </a:rPr>
              <a:t> screening: </a:t>
            </a:r>
            <a:r>
              <a:rPr lang="en-US" sz="1200" b="0" i="1" err="1">
                <a:solidFill>
                  <a:srgbClr val="212121"/>
                </a:solidFill>
                <a:effectLst/>
              </a:rPr>
              <a:t>beyond</a:t>
            </a:r>
            <a:r>
              <a:rPr lang="en-US" sz="1200" b="0" i="1">
                <a:solidFill>
                  <a:srgbClr val="212121"/>
                </a:solidFill>
                <a:effectLst/>
              </a:rPr>
              <a:t> </a:t>
            </a:r>
            <a:r>
              <a:rPr lang="en-US" sz="1200" b="0" i="1" err="1">
                <a:solidFill>
                  <a:srgbClr val="212121"/>
                </a:solidFill>
                <a:effectLst/>
              </a:rPr>
              <a:t>animal</a:t>
            </a:r>
            <a:r>
              <a:rPr lang="en-US" sz="1200" b="0" i="1">
                <a:solidFill>
                  <a:srgbClr val="212121"/>
                </a:solidFill>
                <a:effectLst/>
              </a:rPr>
              <a:t> testing.” </a:t>
            </a:r>
            <a:r>
              <a:rPr lang="en-US" sz="1200" b="0" i="1" err="1">
                <a:solidFill>
                  <a:srgbClr val="212121"/>
                </a:solidFill>
                <a:effectLst/>
              </a:rPr>
              <a:t>Biomaterials</a:t>
            </a:r>
            <a:r>
              <a:rPr lang="en-US" sz="1200" b="0" i="1">
                <a:solidFill>
                  <a:srgbClr val="212121"/>
                </a:solidFill>
                <a:effectLst/>
              </a:rPr>
              <a:t> science vol. 11,9 2988-3015. 2 </a:t>
            </a:r>
            <a:r>
              <a:rPr lang="en-US" sz="1200" b="0" i="1" err="1">
                <a:solidFill>
                  <a:srgbClr val="212121"/>
                </a:solidFill>
                <a:effectLst/>
              </a:rPr>
              <a:t>May</a:t>
            </a:r>
            <a:r>
              <a:rPr lang="en-US" sz="1200" b="0" i="1">
                <a:solidFill>
                  <a:srgbClr val="212121"/>
                </a:solidFill>
                <a:effectLst/>
              </a:rPr>
              <a:t>. 2023, doi:10.1039/d1bm01872h</a:t>
            </a:r>
          </a:p>
          <a:p>
            <a:endParaRPr lang="en-US" sz="1200" i="1">
              <a:solidFill>
                <a:srgbClr val="212121"/>
              </a:solidFill>
            </a:endParaRPr>
          </a:p>
          <a:p>
            <a:r>
              <a:rPr lang="en-US" sz="1200" b="0" i="1" err="1">
                <a:solidFill>
                  <a:srgbClr val="1B1B1B"/>
                </a:solidFill>
                <a:effectLst/>
              </a:rPr>
              <a:t>Jahangirian</a:t>
            </a:r>
            <a:r>
              <a:rPr lang="en-US" sz="1200" b="0" i="1">
                <a:solidFill>
                  <a:srgbClr val="1B1B1B"/>
                </a:solidFill>
                <a:effectLst/>
              </a:rPr>
              <a:t>, Hossein et al. “Status of Plant </a:t>
            </a:r>
            <a:r>
              <a:rPr lang="en-US" sz="1200" b="0" i="1" err="1">
                <a:solidFill>
                  <a:srgbClr val="1B1B1B"/>
                </a:solidFill>
                <a:effectLst/>
              </a:rPr>
              <a:t>Protein-Based</a:t>
            </a:r>
            <a:r>
              <a:rPr lang="en-US" sz="1200" b="0" i="1">
                <a:solidFill>
                  <a:srgbClr val="1B1B1B"/>
                </a:solidFill>
                <a:effectLst/>
              </a:rPr>
              <a:t> Green Scaffolds for </a:t>
            </a:r>
            <a:r>
              <a:rPr lang="en-US" sz="1200" b="0" i="1" err="1">
                <a:solidFill>
                  <a:srgbClr val="1B1B1B"/>
                </a:solidFill>
                <a:effectLst/>
              </a:rPr>
              <a:t>Regenerative</a:t>
            </a:r>
            <a:r>
              <a:rPr lang="en-US" sz="1200" b="0" i="1">
                <a:solidFill>
                  <a:srgbClr val="1B1B1B"/>
                </a:solidFill>
                <a:effectLst/>
              </a:rPr>
              <a:t> Medicine Applications.” </a:t>
            </a:r>
            <a:r>
              <a:rPr lang="en-US" sz="1200" b="0" i="1" err="1">
                <a:solidFill>
                  <a:srgbClr val="1B1B1B"/>
                </a:solidFill>
                <a:effectLst/>
              </a:rPr>
              <a:t>Biomolecules</a:t>
            </a:r>
            <a:r>
              <a:rPr lang="en-US" sz="1200" b="0" i="1">
                <a:solidFill>
                  <a:srgbClr val="1B1B1B"/>
                </a:solidFill>
                <a:effectLst/>
              </a:rPr>
              <a:t> vol. 9,10 619. 17 </a:t>
            </a:r>
            <a:r>
              <a:rPr lang="en-US" sz="1200" b="0" i="1" err="1">
                <a:solidFill>
                  <a:srgbClr val="1B1B1B"/>
                </a:solidFill>
                <a:effectLst/>
              </a:rPr>
              <a:t>Oct</a:t>
            </a:r>
            <a:r>
              <a:rPr lang="en-US" sz="1200" b="0" i="1">
                <a:solidFill>
                  <a:srgbClr val="1B1B1B"/>
                </a:solidFill>
                <a:effectLst/>
              </a:rPr>
              <a:t>. 2019, doi:10.3390/biom9100619</a:t>
            </a:r>
          </a:p>
          <a:p>
            <a:endParaRPr lang="en-US" sz="1200" b="0" i="1">
              <a:solidFill>
                <a:srgbClr val="212121"/>
              </a:solidFill>
              <a:effectLst/>
            </a:endParaRPr>
          </a:p>
          <a:p>
            <a:r>
              <a:rPr lang="en-US" sz="1200" b="0" i="1" err="1">
                <a:solidFill>
                  <a:srgbClr val="212121"/>
                </a:solidFill>
                <a:effectLst/>
              </a:rPr>
              <a:t>Kharaghani</a:t>
            </a:r>
            <a:r>
              <a:rPr lang="en-US" sz="1200" b="0" i="1">
                <a:solidFill>
                  <a:srgbClr val="212121"/>
                </a:solidFill>
                <a:effectLst/>
              </a:rPr>
              <a:t>, Davood et al. “The </a:t>
            </a:r>
            <a:r>
              <a:rPr lang="en-US" sz="1200" b="0" i="1" err="1">
                <a:solidFill>
                  <a:srgbClr val="212121"/>
                </a:solidFill>
                <a:effectLst/>
              </a:rPr>
              <a:t>Effect</a:t>
            </a:r>
            <a:r>
              <a:rPr lang="en-US" sz="1200" b="0" i="1">
                <a:solidFill>
                  <a:srgbClr val="212121"/>
                </a:solidFill>
                <a:effectLst/>
              </a:rPr>
              <a:t> of </a:t>
            </a:r>
            <a:r>
              <a:rPr lang="en-US" sz="1200" b="0" i="1" err="1">
                <a:solidFill>
                  <a:srgbClr val="212121"/>
                </a:solidFill>
                <a:effectLst/>
              </a:rPr>
              <a:t>Polymeric</a:t>
            </a:r>
            <a:r>
              <a:rPr lang="en-US" sz="1200" b="0" i="1">
                <a:solidFill>
                  <a:srgbClr val="212121"/>
                </a:solidFill>
                <a:effectLst/>
              </a:rPr>
              <a:t> </a:t>
            </a:r>
            <a:r>
              <a:rPr lang="en-US" sz="1200" b="0" i="1" err="1">
                <a:solidFill>
                  <a:srgbClr val="212121"/>
                </a:solidFill>
                <a:effectLst/>
              </a:rPr>
              <a:t>Nanofibers</a:t>
            </a:r>
            <a:r>
              <a:rPr lang="en-US" sz="1200" b="0" i="1">
                <a:solidFill>
                  <a:srgbClr val="212121"/>
                </a:solidFill>
                <a:effectLst/>
              </a:rPr>
              <a:t> </a:t>
            </a:r>
            <a:r>
              <a:rPr lang="en-US" sz="1200" b="0" i="1" err="1">
                <a:solidFill>
                  <a:srgbClr val="212121"/>
                </a:solidFill>
                <a:effectLst/>
              </a:rPr>
              <a:t>Used</a:t>
            </a:r>
            <a:r>
              <a:rPr lang="en-US" sz="1200" b="0" i="1">
                <a:solidFill>
                  <a:srgbClr val="212121"/>
                </a:solidFill>
                <a:effectLst/>
              </a:rPr>
              <a:t> for 3D-Printed Scaffolds on Cellular Activity in </a:t>
            </a:r>
            <a:r>
              <a:rPr lang="en-US" sz="1200" b="0" i="1" err="1">
                <a:solidFill>
                  <a:srgbClr val="212121"/>
                </a:solidFill>
                <a:effectLst/>
              </a:rPr>
              <a:t>Tissue</a:t>
            </a:r>
            <a:r>
              <a:rPr lang="en-US" sz="1200" b="0" i="1">
                <a:solidFill>
                  <a:srgbClr val="212121"/>
                </a:solidFill>
                <a:effectLst/>
              </a:rPr>
              <a:t> Engineering: A Review.” International journal of </a:t>
            </a:r>
            <a:r>
              <a:rPr lang="en-US" sz="1200" b="0" i="1" err="1">
                <a:solidFill>
                  <a:srgbClr val="212121"/>
                </a:solidFill>
                <a:effectLst/>
              </a:rPr>
              <a:t>molecular</a:t>
            </a:r>
            <a:r>
              <a:rPr lang="en-US" sz="1200" b="0" i="1">
                <a:solidFill>
                  <a:srgbClr val="212121"/>
                </a:solidFill>
                <a:effectLst/>
              </a:rPr>
              <a:t> sciences vol. 24,11 9464. 30 </a:t>
            </a:r>
            <a:r>
              <a:rPr lang="en-US" sz="1200" b="0" i="1" err="1">
                <a:solidFill>
                  <a:srgbClr val="212121"/>
                </a:solidFill>
                <a:effectLst/>
              </a:rPr>
              <a:t>May</a:t>
            </a:r>
            <a:r>
              <a:rPr lang="en-US" sz="1200" b="0" i="1">
                <a:solidFill>
                  <a:srgbClr val="212121"/>
                </a:solidFill>
                <a:effectLst/>
              </a:rPr>
              <a:t>. 2023, doi:10.3390/ijms24119464</a:t>
            </a:r>
          </a:p>
          <a:p>
            <a:endParaRPr lang="en-US" sz="1200" i="1">
              <a:solidFill>
                <a:srgbClr val="212121"/>
              </a:solidFill>
            </a:endParaRPr>
          </a:p>
          <a:p>
            <a:r>
              <a:rPr lang="en-US" sz="1200" b="0" i="1" err="1">
                <a:solidFill>
                  <a:srgbClr val="212121"/>
                </a:solidFill>
                <a:effectLst/>
              </a:rPr>
              <a:t>Rastogi</a:t>
            </a:r>
            <a:r>
              <a:rPr lang="en-US" sz="1200" b="0" i="1">
                <a:solidFill>
                  <a:srgbClr val="212121"/>
                </a:solidFill>
                <a:effectLst/>
              </a:rPr>
              <a:t>, </a:t>
            </a:r>
            <a:r>
              <a:rPr lang="en-US" sz="1200" b="0" i="1" err="1">
                <a:solidFill>
                  <a:srgbClr val="212121"/>
                </a:solidFill>
                <a:effectLst/>
              </a:rPr>
              <a:t>Prasansha</a:t>
            </a:r>
            <a:r>
              <a:rPr lang="en-US" sz="1200" b="0" i="1">
                <a:solidFill>
                  <a:srgbClr val="212121"/>
                </a:solidFill>
                <a:effectLst/>
              </a:rPr>
              <a:t>, and </a:t>
            </a:r>
            <a:r>
              <a:rPr lang="en-US" sz="1200" b="0" i="1" err="1">
                <a:solidFill>
                  <a:srgbClr val="212121"/>
                </a:solidFill>
                <a:effectLst/>
              </a:rPr>
              <a:t>Balasubramanian</a:t>
            </a:r>
            <a:r>
              <a:rPr lang="en-US" sz="1200" b="0" i="1">
                <a:solidFill>
                  <a:srgbClr val="212121"/>
                </a:solidFill>
                <a:effectLst/>
              </a:rPr>
              <a:t> </a:t>
            </a:r>
            <a:r>
              <a:rPr lang="en-US" sz="1200" b="0" i="1" err="1">
                <a:solidFill>
                  <a:srgbClr val="212121"/>
                </a:solidFill>
                <a:effectLst/>
              </a:rPr>
              <a:t>Kandasubramanian</a:t>
            </a:r>
            <a:r>
              <a:rPr lang="en-US" sz="1200" b="0" i="1">
                <a:solidFill>
                  <a:srgbClr val="212121"/>
                </a:solidFill>
                <a:effectLst/>
              </a:rPr>
              <a:t>. “Review of alginate-</a:t>
            </a:r>
            <a:r>
              <a:rPr lang="en-US" sz="1200" b="0" i="1" err="1">
                <a:solidFill>
                  <a:srgbClr val="212121"/>
                </a:solidFill>
                <a:effectLst/>
              </a:rPr>
              <a:t>based</a:t>
            </a:r>
            <a:r>
              <a:rPr lang="en-US" sz="1200" b="0" i="1">
                <a:solidFill>
                  <a:srgbClr val="212121"/>
                </a:solidFill>
                <a:effectLst/>
              </a:rPr>
              <a:t> </a:t>
            </a:r>
            <a:r>
              <a:rPr lang="en-US" sz="1200" b="0" i="1" err="1">
                <a:solidFill>
                  <a:srgbClr val="212121"/>
                </a:solidFill>
                <a:effectLst/>
              </a:rPr>
              <a:t>hydrogel</a:t>
            </a:r>
            <a:r>
              <a:rPr lang="en-US" sz="1200" b="0" i="1">
                <a:solidFill>
                  <a:srgbClr val="212121"/>
                </a:solidFill>
                <a:effectLst/>
              </a:rPr>
              <a:t> </a:t>
            </a:r>
            <a:r>
              <a:rPr lang="en-US" sz="1200" b="0" i="1" err="1">
                <a:solidFill>
                  <a:srgbClr val="212121"/>
                </a:solidFill>
                <a:effectLst/>
              </a:rPr>
              <a:t>bioprinting</a:t>
            </a:r>
            <a:r>
              <a:rPr lang="en-US" sz="1200" b="0" i="1">
                <a:solidFill>
                  <a:srgbClr val="212121"/>
                </a:solidFill>
                <a:effectLst/>
              </a:rPr>
              <a:t> for </a:t>
            </a:r>
            <a:r>
              <a:rPr lang="en-US" sz="1200" b="0" i="1" err="1">
                <a:solidFill>
                  <a:srgbClr val="212121"/>
                </a:solidFill>
                <a:effectLst/>
              </a:rPr>
              <a:t>application</a:t>
            </a:r>
            <a:r>
              <a:rPr lang="en-US" sz="1200" b="0" i="1">
                <a:solidFill>
                  <a:srgbClr val="212121"/>
                </a:solidFill>
                <a:effectLst/>
              </a:rPr>
              <a:t> in </a:t>
            </a:r>
            <a:r>
              <a:rPr lang="en-US" sz="1200" b="0" i="1" err="1">
                <a:solidFill>
                  <a:srgbClr val="212121"/>
                </a:solidFill>
                <a:effectLst/>
              </a:rPr>
              <a:t>tissue</a:t>
            </a:r>
            <a:r>
              <a:rPr lang="en-US" sz="1200" b="0" i="1">
                <a:solidFill>
                  <a:srgbClr val="212121"/>
                </a:solidFill>
                <a:effectLst/>
              </a:rPr>
              <a:t> engineering.” </a:t>
            </a:r>
            <a:r>
              <a:rPr lang="en-US" sz="1200" b="0" i="1" err="1">
                <a:solidFill>
                  <a:srgbClr val="212121"/>
                </a:solidFill>
                <a:effectLst/>
              </a:rPr>
              <a:t>Biofabrication</a:t>
            </a:r>
            <a:r>
              <a:rPr lang="en-US" sz="1200" b="0" i="1">
                <a:solidFill>
                  <a:srgbClr val="212121"/>
                </a:solidFill>
                <a:effectLst/>
              </a:rPr>
              <a:t> vol. 11,4 042001. 10 Sep. 2019, doi:10.1088/1758-5090/ab331e</a:t>
            </a:r>
          </a:p>
        </p:txBody>
      </p:sp>
    </p:spTree>
    <p:extLst>
      <p:ext uri="{BB962C8B-B14F-4D97-AF65-F5344CB8AC3E}">
        <p14:creationId xmlns:p14="http://schemas.microsoft.com/office/powerpoint/2010/main" val="2486283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7A6646-94B9-EADE-A39B-1478B67DBEED}"/>
              </a:ext>
            </a:extLst>
          </p:cNvPr>
          <p:cNvSpPr txBox="1"/>
          <p:nvPr/>
        </p:nvSpPr>
        <p:spPr>
          <a:xfrm>
            <a:off x="365744" y="2970887"/>
            <a:ext cx="5200482" cy="1015663"/>
          </a:xfrm>
          <a:prstGeom prst="rect">
            <a:avLst/>
          </a:prstGeom>
          <a:noFill/>
        </p:spPr>
        <p:txBody>
          <a:bodyPr wrap="square" lIns="91440" tIns="45720" rIns="91440" bIns="45720" rtlCol="0" anchor="ctr">
            <a:spAutoFit/>
          </a:bodyPr>
          <a:lstStyle/>
          <a:p>
            <a:r>
              <a:rPr lang="en-US" sz="3000" b="1">
                <a:solidFill>
                  <a:schemeClr val="bg1"/>
                </a:solidFill>
                <a:latin typeface="Bangla MN"/>
                <a:ea typeface="Hiragino Kaku Gothic Std W8"/>
              </a:rPr>
              <a:t>Thanks for your attention!</a:t>
            </a:r>
          </a:p>
        </p:txBody>
      </p:sp>
      <p:pic>
        <p:nvPicPr>
          <p:cNvPr id="1028" name="Picture 4">
            <a:extLst>
              <a:ext uri="{FF2B5EF4-FFF2-40B4-BE49-F238E27FC236}">
                <a16:creationId xmlns:a16="http://schemas.microsoft.com/office/drawing/2014/main" id="{6435C7D5-AC44-6901-5900-E7B395450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386" y="5557874"/>
            <a:ext cx="1264988" cy="939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821842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1405</Words>
  <Application>Microsoft Macintosh PowerPoint</Application>
  <PresentationFormat>Widescreen</PresentationFormat>
  <Paragraphs>193</Paragraphs>
  <Slides>16</Slides>
  <Notes>3</Notes>
  <HiddenSlides>0</HiddenSlides>
  <MMClips>1</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16</vt:i4>
      </vt:variant>
    </vt:vector>
  </HeadingPairs>
  <TitlesOfParts>
    <vt:vector size="25" baseType="lpstr">
      <vt:lpstr>Aptos</vt:lpstr>
      <vt:lpstr>Arial</vt:lpstr>
      <vt:lpstr>Arial,Sans-Serif</vt:lpstr>
      <vt:lpstr>Bangla MN</vt:lpstr>
      <vt:lpstr>Brandon Grotesque Black</vt:lpstr>
      <vt:lpstr>Calibri</vt:lpstr>
      <vt:lpstr>Calibri Light</vt:lpstr>
      <vt:lpstr>PT Sans</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Consiglio di Sezione 13 marzo 2023  </dc:title>
  <dc:creator>Alberto Cesare Luigi Redaelli</dc:creator>
  <cp:lastModifiedBy>Beatrice Lino</cp:lastModifiedBy>
  <cp:revision>2</cp:revision>
  <cp:lastPrinted>2024-03-18T23:03:01Z</cp:lastPrinted>
  <dcterms:created xsi:type="dcterms:W3CDTF">2023-03-13T17:26:41Z</dcterms:created>
  <dcterms:modified xsi:type="dcterms:W3CDTF">2026-08-29T15:45:59Z</dcterms:modified>
</cp:coreProperties>
</file>